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3832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8696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6128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6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" y="0"/>
            <a:ext cx="32004" cy="1920240"/>
          </a:xfrm>
          <a:prstGeom prst="rect">
            <a:avLst/>
          </a:prstGeom>
          <a:solidFill>
            <a:srgbClr val="B8F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89520" y="960120"/>
            <a:ext cx="3749039" cy="3749039"/>
          </a:xfrm>
          <a:prstGeom prst="ellipse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83879" y="1554480"/>
            <a:ext cx="2560320" cy="2560320"/>
          </a:xfrm>
          <a:prstGeom prst="ellipse">
            <a:avLst/>
          </a:prstGeom>
          <a:solidFill>
            <a:srgbClr val="0C1A2B"/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33688" y="2304288"/>
            <a:ext cx="1060704" cy="1060704"/>
          </a:xfrm>
          <a:prstGeom prst="ellipse">
            <a:avLst/>
          </a:prstGeom>
          <a:solidFill>
            <a:srgbClr val="B8F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33688" y="2569464"/>
            <a:ext cx="1060704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>
                <a:solidFill>
                  <a:srgbClr val="07111F"/>
                </a:solidFill>
                <a:latin typeface="Microsoft YaHei"/>
              </a:rPr>
              <a:t>GO</a:t>
            </a:r>
          </a:p>
        </p:txBody>
      </p:sp>
      <p:sp>
        <p:nvSpPr>
          <p:cNvPr id="17" name="Oval 16"/>
          <p:cNvSpPr/>
          <p:nvPr/>
        </p:nvSpPr>
        <p:spPr>
          <a:xfrm>
            <a:off x="7379208" y="1051560"/>
            <a:ext cx="594360" cy="594360"/>
          </a:xfrm>
          <a:prstGeom prst="ellipse">
            <a:avLst/>
          </a:prstGeom>
          <a:solidFill>
            <a:srgbClr val="46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9208" y="1225295"/>
            <a:ext cx="5943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11F"/>
                </a:solidFill>
                <a:latin typeface="Microsoft YaHei"/>
              </a:rPr>
              <a:t>MCP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680960" y="1353312"/>
            <a:ext cx="1783080" cy="1481328"/>
          </a:xfrm>
          <a:prstGeom prst="line">
            <a:avLst/>
          </a:prstGeom>
          <a:ln w="1778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0625328" y="1527048"/>
            <a:ext cx="594360" cy="594360"/>
          </a:xfrm>
          <a:prstGeom prst="ellipse">
            <a:avLst/>
          </a:prstGeom>
          <a:solidFill>
            <a:srgbClr val="6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25328" y="1700784"/>
            <a:ext cx="5943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11F"/>
                </a:solidFill>
                <a:latin typeface="Microsoft YaHei"/>
              </a:rPr>
              <a:t>TUI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9464040" y="1828800"/>
            <a:ext cx="1463040" cy="1005840"/>
          </a:xfrm>
          <a:prstGeom prst="line">
            <a:avLst/>
          </a:prstGeom>
          <a:ln w="17780">
            <a:solidFill>
              <a:srgbClr val="65E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479792" y="4005072"/>
            <a:ext cx="594360" cy="594360"/>
          </a:xfrm>
          <a:prstGeom prst="ellipse">
            <a:avLst/>
          </a:prstGeom>
          <a:solidFill>
            <a:srgbClr val="FF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9792" y="4178808"/>
            <a:ext cx="5943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11F"/>
                </a:solidFill>
                <a:latin typeface="Microsoft YaHei"/>
              </a:rPr>
              <a:t>CLI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7781544" y="2834640"/>
            <a:ext cx="1682496" cy="1472184"/>
          </a:xfrm>
          <a:prstGeom prst="line">
            <a:avLst/>
          </a:prstGeom>
          <a:ln w="17780">
            <a:solidFill>
              <a:srgbClr val="FFB1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0378440" y="4288536"/>
            <a:ext cx="594360" cy="594360"/>
          </a:xfrm>
          <a:prstGeom prst="ellipse">
            <a:avLst/>
          </a:prstGeom>
          <a:solidFill>
            <a:srgbClr val="4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78440" y="4462272"/>
            <a:ext cx="5943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11F"/>
                </a:solidFill>
                <a:latin typeface="Microsoft YaHei"/>
              </a:rPr>
              <a:t>API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9464040" y="2834640"/>
            <a:ext cx="1216152" cy="1755648"/>
          </a:xfrm>
          <a:prstGeom prst="line">
            <a:avLst/>
          </a:prstGeom>
          <a:ln w="17780">
            <a:solidFill>
              <a:srgbClr val="4B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8368" y="658368"/>
            <a:ext cx="1874519" cy="310896"/>
          </a:xfrm>
          <a:prstGeom prst="roundRect">
            <a:avLst/>
          </a:prstGeom>
          <a:solidFill>
            <a:srgbClr val="152D46"/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672084"/>
            <a:ext cx="1874519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46D9FF"/>
                </a:solidFill>
                <a:latin typeface="Microsoft YaHei"/>
              </a:rPr>
              <a:t>AI CODING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1426464"/>
            <a:ext cx="640080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300" b="1">
                <a:solidFill>
                  <a:srgbClr val="F6FAFF"/>
                </a:solidFill>
                <a:latin typeface="Microsoft YaHei"/>
              </a:rPr>
              <a:t>Codex Go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2331720"/>
            <a:ext cx="6400800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D8E6F3"/>
                </a:solidFill>
                <a:latin typeface="Microsoft YaHei"/>
              </a:rPr>
              <a:t>用 Go 重构的新一代
跨平台 AI 编程代理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950208"/>
            <a:ext cx="55778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B8F36B"/>
                </a:solidFill>
                <a:latin typeface="Microsoft YaHei"/>
              </a:rPr>
              <a:t>更易部署 · 更易集成 · 更可治理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4690872"/>
            <a:ext cx="1600200" cy="329184"/>
          </a:xfrm>
          <a:prstGeom prst="roundRect">
            <a:avLst/>
          </a:prstGeom>
          <a:solidFill>
            <a:srgbClr val="152D46"/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722876"/>
            <a:ext cx="160020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6D9FF"/>
                </a:solidFill>
                <a:latin typeface="Microsoft YaHei"/>
              </a:rPr>
              <a:t>Interactive TUI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41448" y="4690872"/>
            <a:ext cx="1517904" cy="329184"/>
          </a:xfrm>
          <a:prstGeom prst="roundRect">
            <a:avLst/>
          </a:prstGeom>
          <a:solidFill>
            <a:srgbClr val="152D46"/>
          </a:solidFill>
          <a:ln w="12700">
            <a:solidFill>
              <a:srgbClr val="65E6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41448" y="4722876"/>
            <a:ext cx="1517904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65E6A5"/>
                </a:solidFill>
                <a:latin typeface="Microsoft YaHei"/>
              </a:rPr>
              <a:t>Headless Exec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0" y="4690872"/>
            <a:ext cx="1417320" cy="329184"/>
          </a:xfrm>
          <a:prstGeom prst="roundRect">
            <a:avLst/>
          </a:prstGeom>
          <a:solidFill>
            <a:srgbClr val="152D46"/>
          </a:solidFill>
          <a:ln w="12700">
            <a:solidFill>
              <a:srgbClr val="FFB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0" y="4722876"/>
            <a:ext cx="14173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B15A"/>
                </a:solidFill>
                <a:latin typeface="Microsoft YaHei"/>
              </a:rPr>
              <a:t>MCP / Plugin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87568" y="4690872"/>
            <a:ext cx="1133856" cy="329184"/>
          </a:xfrm>
          <a:prstGeom prst="roundRect">
            <a:avLst/>
          </a:prstGeom>
          <a:solidFill>
            <a:srgbClr val="152D46"/>
          </a:solidFill>
          <a:ln w="12700">
            <a:solidFill>
              <a:srgbClr val="4B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87568" y="4722876"/>
            <a:ext cx="1133856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B7BFF"/>
                </a:solidFill>
                <a:latin typeface="Microsoft YaHei"/>
              </a:rPr>
              <a:t>Sandbox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925312"/>
            <a:ext cx="29260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EA5BA"/>
                </a:solidFill>
                <a:latin typeface="Microsoft YaHei"/>
              </a:rPr>
              <a:t>项目介绍与能力全景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5925312"/>
            <a:ext cx="23774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EA5BA"/>
                </a:solidFill>
                <a:latin typeface="Microsoft YaHei"/>
              </a:rPr>
              <a:t>2026 · 技术产品版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3832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8696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6128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6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" y="0"/>
            <a:ext cx="32004" cy="1920240"/>
          </a:xfrm>
          <a:prstGeom prst="rect">
            <a:avLst/>
          </a:prstGeom>
          <a:solidFill>
            <a:srgbClr val="B8F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38328"/>
            <a:ext cx="6400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6D9FF"/>
                </a:solidFill>
                <a:latin typeface="Microsoft YaHei"/>
              </a:rPr>
              <a:t>PROJECT POSITIONING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0607040" cy="5852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6FAFF"/>
                </a:solidFill>
                <a:latin typeface="Microsoft YaHei"/>
              </a:rPr>
              <a:t>一个入口，连接模型、代码与工具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420624"/>
            <a:ext cx="438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8EA5BA"/>
                </a:solidFill>
                <a:latin typeface="Microsoft YaHei"/>
              </a:rPr>
              <a:t>02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2700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1792" y="1527048"/>
            <a:ext cx="1088136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D8E6F3"/>
                </a:solidFill>
                <a:latin typeface="Microsoft YaHei"/>
              </a:rPr>
              <a:t>Codex Go 将“理解需求—规划任务—调用工具—修改代码—验证结果”
收敛为可交互、可自动化、可审计的一体化工作流。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2596896"/>
            <a:ext cx="2487168" cy="1280160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798064"/>
            <a:ext cx="20574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46D9FF"/>
                </a:solidFill>
                <a:latin typeface="Microsoft YaHei"/>
              </a:rPr>
              <a:t>49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364992"/>
            <a:ext cx="2057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EA5BA"/>
                </a:solidFill>
                <a:latin typeface="Microsoft YaHei"/>
              </a:rPr>
              <a:t>一级功能模块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10712" y="2596896"/>
            <a:ext cx="2487168" cy="1280160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2798064"/>
            <a:ext cx="20574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65E6A5"/>
                </a:solidFill>
                <a:latin typeface="Microsoft YaHei"/>
              </a:rPr>
              <a:t>1,455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3364992"/>
            <a:ext cx="2057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EA5BA"/>
                </a:solidFill>
                <a:latin typeface="Microsoft YaHei"/>
              </a:rPr>
              <a:t>Go 源文件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1" y="2596896"/>
            <a:ext cx="2487168" cy="1280160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799" y="2798064"/>
            <a:ext cx="20574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B15A"/>
                </a:solidFill>
                <a:latin typeface="Microsoft YaHei"/>
              </a:rPr>
              <a:t>544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799" y="3364992"/>
            <a:ext cx="2057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EA5BA"/>
                </a:solidFill>
                <a:latin typeface="Microsoft YaHei"/>
              </a:rPr>
              <a:t>测试文件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88551" y="2596896"/>
            <a:ext cx="2487168" cy="1280160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19" y="2798064"/>
            <a:ext cx="20574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4B7BFF"/>
                </a:solidFill>
                <a:latin typeface="Microsoft YaHe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19" y="3364992"/>
            <a:ext cx="2057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EA5BA"/>
                </a:solidFill>
                <a:latin typeface="Microsoft YaHei"/>
              </a:rPr>
              <a:t>主流桌面平台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" y="4617720"/>
            <a:ext cx="475488" cy="475488"/>
          </a:xfrm>
          <a:prstGeom prst="ellipse">
            <a:avLst/>
          </a:prstGeom>
          <a:solidFill>
            <a:srgbClr val="46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745736"/>
            <a:ext cx="47548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11F"/>
                </a:solidFill>
                <a:latin typeface="Microsoft YaHei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44168" y="4608576"/>
            <a:ext cx="1280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6FAFF"/>
                </a:solidFill>
                <a:latin typeface="Microsoft YaHei"/>
              </a:rPr>
              <a:t>理解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44168" y="4992624"/>
            <a:ext cx="17830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EA5BA"/>
                </a:solidFill>
                <a:latin typeface="Microsoft YaHei"/>
              </a:rPr>
              <a:t>上下文 / 文件 / 历史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834640" y="4846320"/>
            <a:ext cx="438912" cy="0"/>
          </a:xfrm>
          <a:prstGeom prst="line">
            <a:avLst/>
          </a:prstGeom>
          <a:ln w="25400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3447288" y="4617720"/>
            <a:ext cx="475488" cy="475488"/>
          </a:xfrm>
          <a:prstGeom prst="ellipse">
            <a:avLst/>
          </a:prstGeom>
          <a:solidFill>
            <a:srgbClr val="6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47288" y="4745736"/>
            <a:ext cx="47548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11F"/>
                </a:solidFill>
                <a:latin typeface="Microsoft YaHei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05656" y="4608576"/>
            <a:ext cx="1280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6FAFF"/>
                </a:solidFill>
                <a:latin typeface="Microsoft YaHei"/>
              </a:rPr>
              <a:t>规划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05656" y="4992624"/>
            <a:ext cx="17830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EA5BA"/>
                </a:solidFill>
                <a:latin typeface="Microsoft YaHei"/>
              </a:rPr>
              <a:t>任务拆解 / 多 Agent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596128" y="4846320"/>
            <a:ext cx="438912" cy="0"/>
          </a:xfrm>
          <a:prstGeom prst="line">
            <a:avLst/>
          </a:prstGeom>
          <a:ln w="25400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208776" y="4617720"/>
            <a:ext cx="475488" cy="475488"/>
          </a:xfrm>
          <a:prstGeom prst="ellipse">
            <a:avLst/>
          </a:prstGeom>
          <a:solidFill>
            <a:srgbClr val="FF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08776" y="4745736"/>
            <a:ext cx="47548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11F"/>
                </a:solidFill>
                <a:latin typeface="Microsoft YaHei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67144" y="4608576"/>
            <a:ext cx="1280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6FAFF"/>
                </a:solidFill>
                <a:latin typeface="Microsoft YaHei"/>
              </a:rPr>
              <a:t>执行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67144" y="4992624"/>
            <a:ext cx="17830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EA5BA"/>
                </a:solidFill>
                <a:latin typeface="Microsoft YaHei"/>
              </a:rPr>
              <a:t>Shell / Patch / MCP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357616" y="4846320"/>
            <a:ext cx="438912" cy="0"/>
          </a:xfrm>
          <a:prstGeom prst="line">
            <a:avLst/>
          </a:prstGeom>
          <a:ln w="25400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8970264" y="4617720"/>
            <a:ext cx="475488" cy="475488"/>
          </a:xfrm>
          <a:prstGeom prst="ellipse">
            <a:avLst/>
          </a:prstGeom>
          <a:solidFill>
            <a:srgbClr val="4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70264" y="4745736"/>
            <a:ext cx="47548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11F"/>
                </a:solidFill>
                <a:latin typeface="Microsoft YaHei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28632" y="4608576"/>
            <a:ext cx="1280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6FAFF"/>
                </a:solidFill>
                <a:latin typeface="Microsoft YaHei"/>
              </a:rPr>
              <a:t>验证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28632" y="4992624"/>
            <a:ext cx="17830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EA5BA"/>
                </a:solidFill>
                <a:latin typeface="Microsoft YaHei"/>
              </a:rPr>
              <a:t>测试 / Review / 回滚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6528816"/>
            <a:ext cx="5943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EA5BA"/>
                </a:solidFill>
                <a:latin typeface="Microsoft YaHei"/>
              </a:rPr>
              <a:t>数据来自当前工作区代码结构统计（2026-07-18）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89920" y="6528816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EA5BA"/>
                </a:solidFill>
                <a:latin typeface="Microsoft YaHei"/>
              </a:rPr>
              <a:t>2026.07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3832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8696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6128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6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" y="0"/>
            <a:ext cx="32004" cy="1920240"/>
          </a:xfrm>
          <a:prstGeom prst="rect">
            <a:avLst/>
          </a:prstGeom>
          <a:solidFill>
            <a:srgbClr val="B8F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38328"/>
            <a:ext cx="6400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6D9FF"/>
                </a:solidFill>
                <a:latin typeface="Microsoft YaHei"/>
              </a:rPr>
              <a:t>WHY CODEX 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0607040" cy="5852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6FAFF"/>
                </a:solidFill>
                <a:latin typeface="Microsoft YaHei"/>
              </a:rPr>
              <a:t>从“能写代码”到“能完成工程任务”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420624"/>
            <a:ext cx="438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8EA5BA"/>
                </a:solidFill>
                <a:latin typeface="Microsoft YaHei"/>
              </a:rPr>
              <a:t>03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2700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1792" y="1572768"/>
            <a:ext cx="3401568" cy="1828800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1572768"/>
            <a:ext cx="54864" cy="1828800"/>
          </a:xfrm>
          <a:prstGeom prst="rect">
            <a:avLst/>
          </a:prstGeom>
          <a:solidFill>
            <a:srgbClr val="F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824" y="1801368"/>
            <a:ext cx="420624" cy="420624"/>
          </a:xfrm>
          <a:prstGeom prst="ellipse">
            <a:avLst/>
          </a:prstGeom>
          <a:solidFill>
            <a:srgbClr val="F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1810512"/>
            <a:ext cx="42062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7111F"/>
                </a:solidFill>
                <a:latin typeface="Microsoft YaHei"/>
              </a:rPr>
              <a:t>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1792224"/>
            <a:ext cx="23774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6FAFF"/>
                </a:solidFill>
                <a:latin typeface="Microsoft YaHei"/>
              </a:rPr>
              <a:t>传统 AI 助手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6464" y="2231136"/>
            <a:ext cx="2377440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100" b="0">
                <a:solidFill>
                  <a:srgbClr val="D8E6F3"/>
                </a:solidFill>
                <a:latin typeface="Microsoft YaHei"/>
              </a:rPr>
              <a:t>偏重对话与片段生成
上下文切换频繁
执行结果依赖人工拼接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1572768"/>
            <a:ext cx="3401568" cy="1828800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1572768"/>
            <a:ext cx="54864" cy="1828800"/>
          </a:xfrm>
          <a:prstGeom prst="rect">
            <a:avLst/>
          </a:prstGeom>
          <a:solidFill>
            <a:srgbClr val="FF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45152" y="1801368"/>
            <a:ext cx="420624" cy="420624"/>
          </a:xfrm>
          <a:prstGeom prst="ellipse">
            <a:avLst/>
          </a:prstGeom>
          <a:solidFill>
            <a:srgbClr val="FF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5152" y="1810512"/>
            <a:ext cx="42062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7111F"/>
                </a:solidFill>
                <a:latin typeface="Microsoft YaHei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93792" y="1792224"/>
            <a:ext cx="23774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6FAFF"/>
                </a:solidFill>
                <a:latin typeface="Microsoft YaHei"/>
              </a:rPr>
              <a:t>脚本式自动化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93792" y="2231136"/>
            <a:ext cx="2377440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100" b="0">
                <a:solidFill>
                  <a:srgbClr val="D8E6F3"/>
                </a:solidFill>
                <a:latin typeface="Microsoft YaHei"/>
              </a:rPr>
              <a:t>流程固定、适应性有限
权限边界难统一
复杂任务缺少反馈闭环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56448" y="1572768"/>
            <a:ext cx="3401568" cy="1828800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56448" y="1572768"/>
            <a:ext cx="54864" cy="1828800"/>
          </a:xfrm>
          <a:prstGeom prst="rect">
            <a:avLst/>
          </a:prstGeom>
          <a:solidFill>
            <a:srgbClr val="6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412480" y="1801368"/>
            <a:ext cx="420624" cy="420624"/>
          </a:xfrm>
          <a:prstGeom prst="ellipse">
            <a:avLst/>
          </a:prstGeom>
          <a:solidFill>
            <a:srgbClr val="6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1810512"/>
            <a:ext cx="42062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7111F"/>
                </a:solidFill>
                <a:latin typeface="Microsoft YaHe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1792224"/>
            <a:ext cx="23774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6FAFF"/>
                </a:solidFill>
                <a:latin typeface="Microsoft YaHei"/>
              </a:rPr>
              <a:t>Codex Go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2231136"/>
            <a:ext cx="2377440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100" b="0">
                <a:solidFill>
                  <a:srgbClr val="D8E6F3"/>
                </a:solidFill>
                <a:latin typeface="Microsoft YaHei"/>
              </a:rPr>
              <a:t>理解项目全局
自主调用工具并持续验证
以会话沉淀完整过程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3913632"/>
            <a:ext cx="1828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6D9FF"/>
                </a:solidFill>
                <a:latin typeface="Microsoft YaHei"/>
              </a:rPr>
              <a:t>核心价值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407408"/>
            <a:ext cx="3401568" cy="1389888"/>
          </a:xfrm>
          <a:prstGeom prst="roundRect">
            <a:avLst/>
          </a:prstGeom>
          <a:solidFill>
            <a:srgbClr val="152D46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59" y="4599432"/>
            <a:ext cx="73152" cy="832104"/>
          </a:xfrm>
          <a:prstGeom prst="rect">
            <a:avLst/>
          </a:prstGeom>
          <a:solidFill>
            <a:srgbClr val="46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15568" y="4553712"/>
            <a:ext cx="25603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6FAFF"/>
                </a:solidFill>
                <a:latin typeface="Microsoft YaHei"/>
              </a:rPr>
              <a:t>更快交付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" y="4983480"/>
            <a:ext cx="2587752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D8E6F3"/>
                </a:solidFill>
                <a:latin typeface="Microsoft YaHei"/>
              </a:rPr>
              <a:t>把查找、修改、测试与总结串成闭环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70832" y="4407408"/>
            <a:ext cx="3401568" cy="1389888"/>
          </a:xfrm>
          <a:prstGeom prst="roundRect">
            <a:avLst/>
          </a:prstGeom>
          <a:solidFill>
            <a:srgbClr val="152D46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53712" y="4599432"/>
            <a:ext cx="73152" cy="832104"/>
          </a:xfrm>
          <a:prstGeom prst="rect">
            <a:avLst/>
          </a:prstGeom>
          <a:solidFill>
            <a:srgbClr val="6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4553712"/>
            <a:ext cx="25603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6FAFF"/>
                </a:solidFill>
                <a:latin typeface="Microsoft YaHei"/>
              </a:rPr>
              <a:t>更好集成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4983480"/>
            <a:ext cx="2587752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D8E6F3"/>
                </a:solidFill>
                <a:latin typeface="Microsoft YaHei"/>
              </a:rPr>
              <a:t>CLI、App Server、MCP 多种入口复用同一能力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01583" y="4407408"/>
            <a:ext cx="3401568" cy="1389888"/>
          </a:xfrm>
          <a:prstGeom prst="roundRect">
            <a:avLst/>
          </a:prstGeom>
          <a:solidFill>
            <a:srgbClr val="152D46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84463" y="4599432"/>
            <a:ext cx="73152" cy="832104"/>
          </a:xfrm>
          <a:prstGeom prst="rect">
            <a:avLst/>
          </a:prstGeom>
          <a:solidFill>
            <a:srgbClr val="4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77072" y="4553712"/>
            <a:ext cx="25603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6FAFF"/>
                </a:solidFill>
                <a:latin typeface="Microsoft YaHei"/>
              </a:rPr>
              <a:t>更稳治理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77072" y="4983480"/>
            <a:ext cx="2587752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D8E6F3"/>
                </a:solidFill>
                <a:latin typeface="Microsoft YaHei"/>
              </a:rPr>
              <a:t>沙箱、审批、执行策略与审计记录贯穿全程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528816"/>
            <a:ext cx="5943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EA5BA"/>
                </a:solidFill>
                <a:latin typeface="Microsoft YaHei"/>
              </a:rPr>
              <a:t>Codex Go · Project Introduction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0" y="6528816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EA5BA"/>
                </a:solidFill>
                <a:latin typeface="Microsoft YaHei"/>
              </a:rPr>
              <a:t>2026.07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3832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8696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6128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6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" y="0"/>
            <a:ext cx="32004" cy="1920240"/>
          </a:xfrm>
          <a:prstGeom prst="rect">
            <a:avLst/>
          </a:prstGeom>
          <a:solidFill>
            <a:srgbClr val="B8F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38328"/>
            <a:ext cx="6400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6D9FF"/>
                </a:solidFill>
                <a:latin typeface="Microsoft YaHei"/>
              </a:rPr>
              <a:t>CAPABILITY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0607040" cy="5852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6FAFF"/>
                </a:solidFill>
                <a:latin typeface="Microsoft YaHei"/>
              </a:rPr>
              <a:t>覆盖 AI 编程代理的完整能力栈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420624"/>
            <a:ext cx="438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8EA5BA"/>
                </a:solidFill>
                <a:latin typeface="Microsoft YaHei"/>
              </a:rPr>
              <a:t>04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2700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1792" y="1600200"/>
            <a:ext cx="3401568" cy="1700784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1600200"/>
            <a:ext cx="54864" cy="1700784"/>
          </a:xfrm>
          <a:prstGeom prst="rect">
            <a:avLst/>
          </a:prstGeom>
          <a:solidFill>
            <a:srgbClr val="46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824" y="1828800"/>
            <a:ext cx="420624" cy="420624"/>
          </a:xfrm>
          <a:prstGeom prst="ellipse">
            <a:avLst/>
          </a:prstGeom>
          <a:solidFill>
            <a:srgbClr val="46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1837943"/>
            <a:ext cx="42062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7111F"/>
                </a:solidFill>
                <a:latin typeface="Microsoft YaHei"/>
              </a:rPr>
              <a:t>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1819656"/>
            <a:ext cx="23774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6FAFF"/>
                </a:solidFill>
                <a:latin typeface="Microsoft YaHei"/>
              </a:rPr>
              <a:t>交互体验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6464" y="2258568"/>
            <a:ext cx="2377440" cy="8778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100" b="0">
                <a:solidFill>
                  <a:srgbClr val="D8E6F3"/>
                </a:solidFill>
                <a:latin typeface="Microsoft YaHei"/>
              </a:rPr>
              <a:t>终端 TUI
Markdown / Diff / 搜索
会话恢复与分支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2544" y="1600200"/>
            <a:ext cx="3401568" cy="1700784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52544" y="1600200"/>
            <a:ext cx="54864" cy="1700784"/>
          </a:xfrm>
          <a:prstGeom prst="rect">
            <a:avLst/>
          </a:prstGeom>
          <a:solidFill>
            <a:srgbClr val="6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08576" y="1828800"/>
            <a:ext cx="420624" cy="420624"/>
          </a:xfrm>
          <a:prstGeom prst="ellipse">
            <a:avLst/>
          </a:prstGeom>
          <a:solidFill>
            <a:srgbClr val="6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1837943"/>
            <a:ext cx="42062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7111F"/>
                </a:solidFill>
                <a:latin typeface="Microsoft YaHei"/>
              </a:rPr>
              <a:t>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57216" y="1819656"/>
            <a:ext cx="23774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6FAFF"/>
                </a:solidFill>
                <a:latin typeface="Microsoft YaHei"/>
              </a:rPr>
              <a:t>智能执行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57216" y="2258568"/>
            <a:ext cx="2377440" cy="8778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100" b="0">
                <a:solidFill>
                  <a:srgbClr val="D8E6F3"/>
                </a:solidFill>
                <a:latin typeface="Microsoft YaHei"/>
              </a:rPr>
              <a:t>Agent Loop
计划与工具编排
自动压缩上下文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83296" y="1600200"/>
            <a:ext cx="3401568" cy="1700784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83296" y="1600200"/>
            <a:ext cx="54864" cy="1700784"/>
          </a:xfrm>
          <a:prstGeom prst="rect">
            <a:avLst/>
          </a:prstGeom>
          <a:solidFill>
            <a:srgbClr val="FF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39327" y="1828800"/>
            <a:ext cx="420624" cy="420624"/>
          </a:xfrm>
          <a:prstGeom prst="ellipse">
            <a:avLst/>
          </a:prstGeom>
          <a:solidFill>
            <a:srgbClr val="FF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9327" y="1837943"/>
            <a:ext cx="42062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7111F"/>
                </a:solidFill>
                <a:latin typeface="Microsoft YaHei"/>
              </a:rPr>
              <a:t>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87968" y="1819656"/>
            <a:ext cx="23774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6FAFF"/>
                </a:solidFill>
                <a:latin typeface="Microsoft YaHei"/>
              </a:rPr>
              <a:t>工程工具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87968" y="2258568"/>
            <a:ext cx="2377440" cy="8778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100" b="0">
                <a:solidFill>
                  <a:srgbClr val="D8E6F3"/>
                </a:solidFill>
                <a:latin typeface="Microsoft YaHei"/>
              </a:rPr>
              <a:t>Shell / Apply Patch
文件搜索 / Review
并发统一执行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" y="3675887"/>
            <a:ext cx="3401568" cy="1700784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" y="3675887"/>
            <a:ext cx="54864" cy="1700784"/>
          </a:xfrm>
          <a:prstGeom prst="rect">
            <a:avLst/>
          </a:prstGeom>
          <a:solidFill>
            <a:srgbClr val="4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77824" y="3904487"/>
            <a:ext cx="420624" cy="420624"/>
          </a:xfrm>
          <a:prstGeom prst="ellipse">
            <a:avLst/>
          </a:prstGeom>
          <a:solidFill>
            <a:srgbClr val="4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3913631"/>
            <a:ext cx="42062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7111F"/>
                </a:solidFill>
                <a:latin typeface="Microsoft YaHei"/>
              </a:rPr>
              <a:t>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26464" y="3895344"/>
            <a:ext cx="23774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6FAFF"/>
                </a:solidFill>
                <a:latin typeface="Microsoft YaHei"/>
              </a:rPr>
              <a:t>开放连接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26464" y="4334255"/>
            <a:ext cx="2377440" cy="8778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100" b="0">
                <a:solidFill>
                  <a:srgbClr val="D8E6F3"/>
                </a:solidFill>
                <a:latin typeface="Microsoft YaHei"/>
              </a:rPr>
              <a:t>MCP Client / Server
插件与 Marketplace
App Server / JSON-RPC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52544" y="3675887"/>
            <a:ext cx="3401568" cy="1700784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52544" y="3675887"/>
            <a:ext cx="54864" cy="1700784"/>
          </a:xfrm>
          <a:prstGeom prst="rect">
            <a:avLst/>
          </a:prstGeom>
          <a:solidFill>
            <a:srgbClr val="F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08576" y="3904487"/>
            <a:ext cx="420624" cy="420624"/>
          </a:xfrm>
          <a:prstGeom prst="ellipse">
            <a:avLst/>
          </a:prstGeom>
          <a:solidFill>
            <a:srgbClr val="F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08576" y="3913631"/>
            <a:ext cx="42062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7111F"/>
                </a:solidFill>
                <a:latin typeface="Microsoft YaHei"/>
              </a:rPr>
              <a:t>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57216" y="3895344"/>
            <a:ext cx="23774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6FAFF"/>
                </a:solidFill>
                <a:latin typeface="Microsoft YaHei"/>
              </a:rPr>
              <a:t>安全治理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57216" y="4334255"/>
            <a:ext cx="2377440" cy="8778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100" b="0">
                <a:solidFill>
                  <a:srgbClr val="D8E6F3"/>
                </a:solidFill>
                <a:latin typeface="Microsoft YaHei"/>
              </a:rPr>
              <a:t>Sandbox Profile
审批策略 / Exec Policy
网络访问约束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83296" y="3675887"/>
            <a:ext cx="3401568" cy="1700784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83296" y="3675887"/>
            <a:ext cx="54864" cy="1700784"/>
          </a:xfrm>
          <a:prstGeom prst="rect">
            <a:avLst/>
          </a:prstGeom>
          <a:solidFill>
            <a:srgbClr val="B8F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339327" y="3904487"/>
            <a:ext cx="420624" cy="420624"/>
          </a:xfrm>
          <a:prstGeom prst="ellipse">
            <a:avLst/>
          </a:prstGeom>
          <a:solidFill>
            <a:srgbClr val="B8F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39327" y="3913631"/>
            <a:ext cx="42062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7111F"/>
                </a:solidFill>
                <a:latin typeface="Microsoft YaHei"/>
              </a:rPr>
              <a:t>OP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87968" y="3895344"/>
            <a:ext cx="23774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6FAFF"/>
                </a:solidFill>
                <a:latin typeface="Microsoft YaHei"/>
              </a:rPr>
              <a:t>运行保障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87968" y="4334255"/>
            <a:ext cx="2377440" cy="8778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100" b="0">
                <a:solidFill>
                  <a:srgbClr val="D8E6F3"/>
                </a:solidFill>
                <a:latin typeface="Microsoft YaHei"/>
              </a:rPr>
              <a:t>登录与多 Provider
Rollout / Telemetry
Doctor / Completion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6528816"/>
            <a:ext cx="5943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EA5BA"/>
                </a:solidFill>
                <a:latin typeface="Microsoft YaHei"/>
              </a:rPr>
              <a:t>能力依据 README、目录结构与 parity 清单归纳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89920" y="6528816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EA5BA"/>
                </a:solidFill>
                <a:latin typeface="Microsoft YaHei"/>
              </a:rPr>
              <a:t>2026.07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3832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8696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6128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6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" y="0"/>
            <a:ext cx="32004" cy="1920240"/>
          </a:xfrm>
          <a:prstGeom prst="rect">
            <a:avLst/>
          </a:prstGeom>
          <a:solidFill>
            <a:srgbClr val="B8F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38328"/>
            <a:ext cx="6400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6D9FF"/>
                </a:solidFill>
                <a:latin typeface="Microsoft YaHei"/>
              </a:rPr>
              <a:t>AGENT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0607040" cy="5852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6FAFF"/>
                </a:solidFill>
                <a:latin typeface="Microsoft YaHei"/>
              </a:rPr>
              <a:t>一次任务，形成可验证的智能闭环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420624"/>
            <a:ext cx="438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8EA5BA"/>
                </a:solidFill>
                <a:latin typeface="Microsoft YaHei"/>
              </a:rPr>
              <a:t>05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2700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289304" y="1755648"/>
            <a:ext cx="658368" cy="658368"/>
          </a:xfrm>
          <a:prstGeom prst="ellipse">
            <a:avLst/>
          </a:prstGeom>
          <a:solidFill>
            <a:srgbClr val="46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9304" y="1947672"/>
            <a:ext cx="658368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7111F"/>
                </a:solidFill>
                <a:latin typeface="Microsoft YaHei"/>
              </a:rPr>
              <a:t>01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029968" y="2084831"/>
            <a:ext cx="768096" cy="0"/>
          </a:xfrm>
          <a:prstGeom prst="line">
            <a:avLst/>
          </a:prstGeom>
          <a:ln w="27940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85216" y="2816352"/>
            <a:ext cx="2057400" cy="2130552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063240"/>
            <a:ext cx="16916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6FAFF"/>
                </a:solidFill>
                <a:latin typeface="Microsoft YaHei"/>
              </a:rPr>
              <a:t>接收目标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602736"/>
            <a:ext cx="1691640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D8E6F3"/>
                </a:solidFill>
                <a:latin typeface="Microsoft YaHei"/>
              </a:rPr>
              <a:t>自然语言 / CLI 参数
IDE 或服务端请求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6696" y="5230368"/>
            <a:ext cx="1234440" cy="329184"/>
          </a:xfrm>
          <a:prstGeom prst="roundRect">
            <a:avLst/>
          </a:prstGeom>
          <a:solidFill>
            <a:srgbClr val="152D46"/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" y="5262372"/>
            <a:ext cx="1234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6D9FF"/>
                </a:solidFill>
                <a:latin typeface="Microsoft YaHei"/>
              </a:rPr>
              <a:t>PROMPT</a:t>
            </a:r>
          </a:p>
        </p:txBody>
      </p:sp>
      <p:sp>
        <p:nvSpPr>
          <p:cNvPr id="25" name="Oval 24"/>
          <p:cNvSpPr/>
          <p:nvPr/>
        </p:nvSpPr>
        <p:spPr>
          <a:xfrm>
            <a:off x="3593592" y="1755648"/>
            <a:ext cx="658368" cy="658368"/>
          </a:xfrm>
          <a:prstGeom prst="ellipse">
            <a:avLst/>
          </a:prstGeom>
          <a:solidFill>
            <a:srgbClr val="4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93592" y="1947672"/>
            <a:ext cx="658368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7111F"/>
                </a:solidFill>
                <a:latin typeface="Microsoft YaHei"/>
              </a:rPr>
              <a:t>02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334256" y="2084831"/>
            <a:ext cx="768096" cy="0"/>
          </a:xfrm>
          <a:prstGeom prst="line">
            <a:avLst/>
          </a:prstGeom>
          <a:ln w="27940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889504" y="2816352"/>
            <a:ext cx="2057400" cy="2130552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72384" y="3063240"/>
            <a:ext cx="16916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6FAFF"/>
                </a:solidFill>
                <a:latin typeface="Microsoft YaHei"/>
              </a:rPr>
              <a:t>构建上下文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72384" y="3602736"/>
            <a:ext cx="1691640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D8E6F3"/>
                </a:solidFill>
                <a:latin typeface="Microsoft YaHei"/>
              </a:rPr>
              <a:t>目录、文件、Git Diff
历史会话与记忆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00984" y="5230368"/>
            <a:ext cx="1234440" cy="329184"/>
          </a:xfrm>
          <a:prstGeom prst="roundRect">
            <a:avLst/>
          </a:prstGeom>
          <a:solidFill>
            <a:srgbClr val="152D46"/>
          </a:solidFill>
          <a:ln w="12700">
            <a:solidFill>
              <a:srgbClr val="4B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00984" y="5262372"/>
            <a:ext cx="1234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B7BFF"/>
                </a:solidFill>
                <a:latin typeface="Microsoft YaHei"/>
              </a:rPr>
              <a:t>CONTEXT</a:t>
            </a:r>
          </a:p>
        </p:txBody>
      </p:sp>
      <p:sp>
        <p:nvSpPr>
          <p:cNvPr id="33" name="Oval 32"/>
          <p:cNvSpPr/>
          <p:nvPr/>
        </p:nvSpPr>
        <p:spPr>
          <a:xfrm>
            <a:off x="5897879" y="1755648"/>
            <a:ext cx="658368" cy="658368"/>
          </a:xfrm>
          <a:prstGeom prst="ellipse">
            <a:avLst/>
          </a:prstGeom>
          <a:solidFill>
            <a:srgbClr val="6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79" y="1947672"/>
            <a:ext cx="658368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7111F"/>
                </a:solidFill>
                <a:latin typeface="Microsoft YaHei"/>
              </a:rPr>
              <a:t>03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638544" y="2084831"/>
            <a:ext cx="768096" cy="0"/>
          </a:xfrm>
          <a:prstGeom prst="line">
            <a:avLst/>
          </a:prstGeom>
          <a:ln w="27940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193792" y="2816352"/>
            <a:ext cx="2057400" cy="2130552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76672" y="3063240"/>
            <a:ext cx="16916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6FAFF"/>
                </a:solidFill>
                <a:latin typeface="Microsoft YaHei"/>
              </a:rPr>
              <a:t>规划与决策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76672" y="3602736"/>
            <a:ext cx="1691640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D8E6F3"/>
                </a:solidFill>
                <a:latin typeface="Microsoft YaHei"/>
              </a:rPr>
              <a:t>任务拆解、模型推理
Skill / Agent 选择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05272" y="5230368"/>
            <a:ext cx="1234440" cy="329184"/>
          </a:xfrm>
          <a:prstGeom prst="roundRect">
            <a:avLst/>
          </a:prstGeom>
          <a:solidFill>
            <a:srgbClr val="152D46"/>
          </a:solidFill>
          <a:ln w="12700">
            <a:solidFill>
              <a:srgbClr val="65E6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05272" y="5262372"/>
            <a:ext cx="1234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65E6A5"/>
                </a:solidFill>
                <a:latin typeface="Microsoft YaHei"/>
              </a:rPr>
              <a:t>PLAN</a:t>
            </a:r>
          </a:p>
        </p:txBody>
      </p:sp>
      <p:sp>
        <p:nvSpPr>
          <p:cNvPr id="41" name="Oval 40"/>
          <p:cNvSpPr/>
          <p:nvPr/>
        </p:nvSpPr>
        <p:spPr>
          <a:xfrm>
            <a:off x="8202168" y="1755648"/>
            <a:ext cx="658368" cy="658368"/>
          </a:xfrm>
          <a:prstGeom prst="ellipse">
            <a:avLst/>
          </a:prstGeom>
          <a:solidFill>
            <a:srgbClr val="FF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02168" y="1947672"/>
            <a:ext cx="658368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7111F"/>
                </a:solidFill>
                <a:latin typeface="Microsoft YaHei"/>
              </a:rPr>
              <a:t>04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942832" y="2084831"/>
            <a:ext cx="768096" cy="0"/>
          </a:xfrm>
          <a:prstGeom prst="line">
            <a:avLst/>
          </a:prstGeom>
          <a:ln w="27940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498080" y="2816352"/>
            <a:ext cx="2057400" cy="2130552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0" y="3063240"/>
            <a:ext cx="16916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6FAFF"/>
                </a:solidFill>
                <a:latin typeface="Microsoft YaHei"/>
              </a:rPr>
              <a:t>调用工具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3602736"/>
            <a:ext cx="1691640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D8E6F3"/>
                </a:solidFill>
                <a:latin typeface="Microsoft YaHei"/>
              </a:rPr>
              <a:t>Shell、补丁、MCP
外部服务与插件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09560" y="5230368"/>
            <a:ext cx="1234440" cy="329184"/>
          </a:xfrm>
          <a:prstGeom prst="roundRect">
            <a:avLst/>
          </a:prstGeom>
          <a:solidFill>
            <a:srgbClr val="152D46"/>
          </a:solidFill>
          <a:ln w="12700">
            <a:solidFill>
              <a:srgbClr val="FFB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09560" y="5262372"/>
            <a:ext cx="1234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B15A"/>
                </a:solidFill>
                <a:latin typeface="Microsoft YaHei"/>
              </a:rPr>
              <a:t>ACTION</a:t>
            </a:r>
          </a:p>
        </p:txBody>
      </p:sp>
      <p:sp>
        <p:nvSpPr>
          <p:cNvPr id="49" name="Oval 48"/>
          <p:cNvSpPr/>
          <p:nvPr/>
        </p:nvSpPr>
        <p:spPr>
          <a:xfrm>
            <a:off x="10506456" y="1755648"/>
            <a:ext cx="658368" cy="658368"/>
          </a:xfrm>
          <a:prstGeom prst="ellipse">
            <a:avLst/>
          </a:prstGeom>
          <a:solidFill>
            <a:srgbClr val="B8F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06456" y="1947672"/>
            <a:ext cx="658368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7111F"/>
                </a:solidFill>
                <a:latin typeface="Microsoft YaHei"/>
              </a:rPr>
              <a:t>05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802368" y="2816352"/>
            <a:ext cx="2057400" cy="2130552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85248" y="3063240"/>
            <a:ext cx="16916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6FAFF"/>
                </a:solidFill>
                <a:latin typeface="Microsoft YaHei"/>
              </a:rPr>
              <a:t>验证与沉淀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85248" y="3602736"/>
            <a:ext cx="1691640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D8E6F3"/>
                </a:solidFill>
                <a:latin typeface="Microsoft YaHei"/>
              </a:rPr>
              <a:t>测试、Review、结果总结
Rollout 与会话持久化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213848" y="5230368"/>
            <a:ext cx="1234440" cy="329184"/>
          </a:xfrm>
          <a:prstGeom prst="roundRect">
            <a:avLst/>
          </a:prstGeom>
          <a:solidFill>
            <a:srgbClr val="152D46"/>
          </a:solidFill>
          <a:ln w="12700">
            <a:solidFill>
              <a:srgbClr val="B8F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13848" y="5262372"/>
            <a:ext cx="1234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B8F36B"/>
                </a:solidFill>
                <a:latin typeface="Microsoft YaHei"/>
              </a:rPr>
              <a:t>PROOF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2688" y="5879592"/>
            <a:ext cx="101498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8EA5BA"/>
                </a:solidFill>
                <a:latin typeface="Microsoft YaHei"/>
              </a:rPr>
              <a:t>人在回路：高风险动作可触发审批；策略决定“何时询问、允许什么、记录什么”。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6528816"/>
            <a:ext cx="5943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EA5BA"/>
                </a:solidFill>
                <a:latin typeface="Microsoft YaHei"/>
              </a:rPr>
              <a:t>Codex Go · Project Introduction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89920" y="6528816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EA5BA"/>
                </a:solidFill>
                <a:latin typeface="Microsoft YaHei"/>
              </a:rPr>
              <a:t>2026.07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3832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8696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6128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6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" y="0"/>
            <a:ext cx="32004" cy="1920240"/>
          </a:xfrm>
          <a:prstGeom prst="rect">
            <a:avLst/>
          </a:prstGeom>
          <a:solidFill>
            <a:srgbClr val="B8F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38328"/>
            <a:ext cx="6400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6D9FF"/>
                </a:solidFill>
                <a:latin typeface="Microsoft YaHei"/>
              </a:rPr>
              <a:t>TECHNICAL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0607040" cy="5852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6FAFF"/>
                </a:solidFill>
                <a:latin typeface="Microsoft YaHei"/>
              </a:rPr>
              <a:t>分层架构：核心复用，入口自由组合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420624"/>
            <a:ext cx="438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8EA5BA"/>
                </a:solidFill>
                <a:latin typeface="Microsoft YaHei"/>
              </a:rPr>
              <a:t>06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2700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1792" y="1572768"/>
            <a:ext cx="1920240" cy="804672"/>
          </a:xfrm>
          <a:prstGeom prst="roundRect">
            <a:avLst/>
          </a:prstGeom>
          <a:solidFill>
            <a:srgbClr val="46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1810512"/>
            <a:ext cx="1554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7111F"/>
                </a:solidFill>
                <a:latin typeface="Microsoft YaHei"/>
              </a:rPr>
              <a:t>体验与接入层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1572768"/>
            <a:ext cx="1901952" cy="804672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810512"/>
            <a:ext cx="17190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6FAFF"/>
                </a:solidFill>
                <a:latin typeface="Microsoft YaHei"/>
              </a:rPr>
              <a:t>TUI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10912" y="1572768"/>
            <a:ext cx="1901952" cy="804672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02352" y="1810512"/>
            <a:ext cx="17190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6FAFF"/>
                </a:solidFill>
                <a:latin typeface="Microsoft YaHei"/>
              </a:rPr>
              <a:t>CLI / Exec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87183" y="1572768"/>
            <a:ext cx="1901952" cy="804672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78623" y="1810512"/>
            <a:ext cx="17190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6FAFF"/>
                </a:solidFill>
                <a:latin typeface="Microsoft YaHei"/>
              </a:rPr>
              <a:t>App Server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63456" y="1572768"/>
            <a:ext cx="1901952" cy="804672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54896" y="1810512"/>
            <a:ext cx="17190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6FAFF"/>
                </a:solidFill>
                <a:latin typeface="Microsoft YaHei"/>
              </a:rPr>
              <a:t>MCP Server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581912" y="2395728"/>
            <a:ext cx="0" cy="256032"/>
          </a:xfrm>
          <a:prstGeom prst="line">
            <a:avLst/>
          </a:prstGeom>
          <a:ln w="2540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21792" y="2688336"/>
            <a:ext cx="1920240" cy="804672"/>
          </a:xfrm>
          <a:prstGeom prst="roundRect">
            <a:avLst/>
          </a:prstGeom>
          <a:solidFill>
            <a:srgbClr val="6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2926080"/>
            <a:ext cx="1554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7111F"/>
                </a:solidFill>
                <a:latin typeface="Microsoft YaHei"/>
              </a:rPr>
              <a:t>编排与会话层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34640" y="2688336"/>
            <a:ext cx="1901952" cy="804672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80" y="2926080"/>
            <a:ext cx="17190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6FAFF"/>
                </a:solidFill>
                <a:latin typeface="Microsoft YaHei"/>
              </a:rPr>
              <a:t>App Runtime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10912" y="2688336"/>
            <a:ext cx="1901952" cy="804672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02352" y="2926080"/>
            <a:ext cx="17190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6FAFF"/>
                </a:solidFill>
                <a:latin typeface="Microsoft YaHei"/>
              </a:rPr>
              <a:t>Agent / Turn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87183" y="2688336"/>
            <a:ext cx="1901952" cy="804672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78623" y="2926080"/>
            <a:ext cx="17190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6FAFF"/>
                </a:solidFill>
                <a:latin typeface="Microsoft YaHei"/>
              </a:rPr>
              <a:t>Session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63456" y="2688336"/>
            <a:ext cx="1901952" cy="804672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54896" y="2926080"/>
            <a:ext cx="17190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6FAFF"/>
                </a:solidFill>
                <a:latin typeface="Microsoft YaHei"/>
              </a:rPr>
              <a:t>Review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581912" y="3511296"/>
            <a:ext cx="0" cy="256032"/>
          </a:xfrm>
          <a:prstGeom prst="line">
            <a:avLst/>
          </a:prstGeom>
          <a:ln w="25400">
            <a:solidFill>
              <a:srgbClr val="65E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21792" y="3803904"/>
            <a:ext cx="1920240" cy="804672"/>
          </a:xfrm>
          <a:prstGeom prst="roundRect">
            <a:avLst/>
          </a:prstGeom>
          <a:solidFill>
            <a:srgbClr val="FF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" y="4041648"/>
            <a:ext cx="1554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7111F"/>
                </a:solidFill>
                <a:latin typeface="Microsoft YaHei"/>
              </a:rPr>
              <a:t>能力与工具层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834640" y="3803904"/>
            <a:ext cx="1901952" cy="804672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26080" y="4041648"/>
            <a:ext cx="17190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6FAFF"/>
                </a:solidFill>
                <a:latin typeface="Microsoft YaHei"/>
              </a:rPr>
              <a:t>Shell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10912" y="3803904"/>
            <a:ext cx="1901952" cy="804672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02352" y="4041648"/>
            <a:ext cx="17190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6FAFF"/>
                </a:solidFill>
                <a:latin typeface="Microsoft YaHei"/>
              </a:rPr>
              <a:t>Apply Patch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87183" y="3803904"/>
            <a:ext cx="1901952" cy="804672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78623" y="4041648"/>
            <a:ext cx="17190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6FAFF"/>
                </a:solidFill>
                <a:latin typeface="Microsoft YaHei"/>
              </a:rPr>
              <a:t>MCP Tools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63456" y="3803904"/>
            <a:ext cx="1901952" cy="804672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54896" y="4041648"/>
            <a:ext cx="17190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6FAFF"/>
                </a:solidFill>
                <a:latin typeface="Microsoft YaHei"/>
              </a:rPr>
              <a:t>Skill / Plugin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581912" y="4626864"/>
            <a:ext cx="0" cy="256032"/>
          </a:xfrm>
          <a:prstGeom prst="line">
            <a:avLst/>
          </a:prstGeom>
          <a:ln w="25400">
            <a:solidFill>
              <a:srgbClr val="FFB1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621792" y="4919472"/>
            <a:ext cx="1920240" cy="804672"/>
          </a:xfrm>
          <a:prstGeom prst="roundRect">
            <a:avLst/>
          </a:prstGeom>
          <a:solidFill>
            <a:srgbClr val="4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4672" y="5157216"/>
            <a:ext cx="1554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7111F"/>
                </a:solidFill>
                <a:latin typeface="Microsoft YaHei"/>
              </a:rPr>
              <a:t>基础与治理层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834640" y="4919472"/>
            <a:ext cx="1901952" cy="804672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26080" y="5157216"/>
            <a:ext cx="17190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6FAFF"/>
                </a:solidFill>
                <a:latin typeface="Microsoft YaHei"/>
              </a:rPr>
              <a:t>Config / Auth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10912" y="4919472"/>
            <a:ext cx="1901952" cy="804672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02352" y="5157216"/>
            <a:ext cx="17190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6FAFF"/>
                </a:solidFill>
                <a:latin typeface="Microsoft YaHei"/>
              </a:rPr>
              <a:t>Model Provider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187183" y="4919472"/>
            <a:ext cx="1901952" cy="804672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78623" y="5157216"/>
            <a:ext cx="17190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6FAFF"/>
                </a:solidFill>
                <a:latin typeface="Microsoft YaHei"/>
              </a:rPr>
              <a:t>Sandbox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363456" y="4919472"/>
            <a:ext cx="1901952" cy="804672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54896" y="5157216"/>
            <a:ext cx="17190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6FAFF"/>
                </a:solidFill>
                <a:latin typeface="Microsoft YaHei"/>
              </a:rPr>
              <a:t>Telemetry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792" y="6089904"/>
            <a:ext cx="10936224" cy="320040"/>
          </a:xfrm>
          <a:prstGeom prst="roundRect">
            <a:avLst/>
          </a:prstGeom>
          <a:solidFill>
            <a:srgbClr val="152D46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55264" y="6144768"/>
            <a:ext cx="59436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8EA5BA"/>
                </a:solidFill>
                <a:latin typeface="Microsoft YaHei"/>
              </a:rPr>
              <a:t>设计关键词  </a:t>
            </a:r>
            <a:r>
              <a:rPr sz="1000" b="1">
                <a:solidFill>
                  <a:srgbClr val="46D9FF"/>
                </a:solidFill>
                <a:latin typeface="Microsoft YaHei"/>
              </a:rPr>
              <a:t>模块化</a:t>
            </a:r>
            <a:r>
              <a:rPr sz="1000" b="0">
                <a:solidFill>
                  <a:srgbClr val="8EA5BA"/>
                </a:solidFill>
                <a:latin typeface="Microsoft YaHei"/>
              </a:rPr>
              <a:t>  ·  </a:t>
            </a:r>
            <a:r>
              <a:rPr sz="1000" b="1">
                <a:solidFill>
                  <a:srgbClr val="65E6A5"/>
                </a:solidFill>
                <a:latin typeface="Microsoft YaHei"/>
              </a:rPr>
              <a:t>协议兼容</a:t>
            </a:r>
            <a:r>
              <a:rPr sz="1000" b="0">
                <a:solidFill>
                  <a:srgbClr val="8EA5BA"/>
                </a:solidFill>
                <a:latin typeface="Microsoft YaHei"/>
              </a:rPr>
              <a:t>  ·  </a:t>
            </a:r>
            <a:r>
              <a:rPr sz="1000" b="1">
                <a:solidFill>
                  <a:srgbClr val="FFB15A"/>
                </a:solidFill>
                <a:latin typeface="Microsoft YaHei"/>
              </a:rPr>
              <a:t>可替换 Provider</a:t>
            </a:r>
            <a:r>
              <a:rPr sz="1000" b="0">
                <a:solidFill>
                  <a:srgbClr val="8EA5BA"/>
                </a:solidFill>
                <a:latin typeface="Microsoft YaHei"/>
              </a:rPr>
              <a:t>  ·  </a:t>
            </a:r>
            <a:r>
              <a:rPr sz="1000" b="1">
                <a:solidFill>
                  <a:srgbClr val="4B7BFF"/>
                </a:solidFill>
                <a:latin typeface="Microsoft YaHei"/>
              </a:rPr>
              <a:t>跨平台治理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6528816"/>
            <a:ext cx="5943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EA5BA"/>
                </a:solidFill>
                <a:latin typeface="Microsoft YaHei"/>
              </a:rPr>
              <a:t>Codex Go · Project Introduction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89920" y="6528816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EA5BA"/>
                </a:solidFill>
                <a:latin typeface="Microsoft YaHei"/>
              </a:rPr>
              <a:t>2026.07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3832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8696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6128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6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" y="0"/>
            <a:ext cx="32004" cy="1920240"/>
          </a:xfrm>
          <a:prstGeom prst="rect">
            <a:avLst/>
          </a:prstGeom>
          <a:solidFill>
            <a:srgbClr val="B8F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38328"/>
            <a:ext cx="6400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6D9FF"/>
                </a:solidFill>
                <a:latin typeface="Microsoft YaHei"/>
              </a:rPr>
              <a:t>PRODUCT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0607040" cy="5852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6FAFF"/>
                </a:solidFill>
                <a:latin typeface="Microsoft YaHei"/>
              </a:rPr>
              <a:t>交互与自动化，两种体验共用一颗内核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420624"/>
            <a:ext cx="438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8EA5BA"/>
                </a:solidFill>
                <a:latin typeface="Microsoft YaHei"/>
              </a:rPr>
              <a:t>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2700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1792" y="1554480"/>
            <a:ext cx="6812280" cy="4462272"/>
          </a:xfrm>
          <a:prstGeom prst="roundRect">
            <a:avLst/>
          </a:prstGeom>
          <a:solidFill>
            <a:srgbClr val="071019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" y="1554480"/>
            <a:ext cx="6812280" cy="438912"/>
          </a:xfrm>
          <a:prstGeom prst="roundRect">
            <a:avLst/>
          </a:prstGeom>
          <a:solidFill>
            <a:srgbClr val="15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1700784"/>
            <a:ext cx="109728" cy="109728"/>
          </a:xfrm>
          <a:prstGeom prst="ellipse">
            <a:avLst/>
          </a:prstGeom>
          <a:solidFill>
            <a:srgbClr val="F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1700784"/>
            <a:ext cx="109728" cy="109728"/>
          </a:xfrm>
          <a:prstGeom prst="ellipse">
            <a:avLst/>
          </a:prstGeom>
          <a:solidFill>
            <a:srgbClr val="FF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98448" y="1700784"/>
            <a:ext cx="109728" cy="109728"/>
          </a:xfrm>
          <a:prstGeom prst="ellipse">
            <a:avLst/>
          </a:prstGeom>
          <a:solidFill>
            <a:srgbClr val="6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4752" y="1682495"/>
            <a:ext cx="5166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EA5BA"/>
                </a:solidFill>
                <a:latin typeface="Cascadia Mono"/>
              </a:rPr>
              <a:t>codex_go — interactive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682495"/>
            <a:ext cx="9144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65E6A5"/>
                </a:solidFill>
                <a:latin typeface="Cascadia Mono"/>
              </a:rPr>
              <a:t>● connected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2194560"/>
            <a:ext cx="6172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6FAFF"/>
                </a:solidFill>
                <a:latin typeface="Cascadia Mono"/>
              </a:rPr>
              <a:t>› 请分析登录模块并补充边界测试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2478024"/>
            <a:ext cx="6172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D8E6F3"/>
                </a:solidFill>
                <a:latin typeface="Cascadia Mono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2761488"/>
            <a:ext cx="6172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EA5BA"/>
                </a:solidFill>
                <a:latin typeface="Cascadia Mono"/>
              </a:rPr>
              <a:t>• Scanning auth/ and related tests…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3044952"/>
            <a:ext cx="6172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D9FF"/>
                </a:solidFill>
                <a:latin typeface="Cascadia Mono"/>
              </a:rPr>
              <a:t>•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3328415"/>
            <a:ext cx="6172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D8E6F3"/>
                </a:solidFill>
                <a:latin typeface="Cascadia Mono"/>
              </a:rPr>
              <a:t>  1. 定位凭据读取与刷新逻辑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3611880"/>
            <a:ext cx="6172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D8E6F3"/>
                </a:solidFill>
                <a:latin typeface="Cascadia Mono"/>
              </a:rPr>
              <a:t>  2. 补充过期、缺失与并发场景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3895344"/>
            <a:ext cx="6172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D8E6F3"/>
                </a:solidFill>
                <a:latin typeface="Cascadia Mono"/>
              </a:rPr>
              <a:t>  3. 运行测试并审查 diff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4178808"/>
            <a:ext cx="6172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D8E6F3"/>
                </a:solidFill>
                <a:latin typeface="Cascadia Mono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4462272"/>
            <a:ext cx="6172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5E6A5"/>
                </a:solidFill>
                <a:latin typeface="Cascadia Mono"/>
              </a:rPr>
              <a:t>✓ Patched 2 files   +86  -3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4745736"/>
            <a:ext cx="6172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5E6A5"/>
                </a:solidFill>
                <a:latin typeface="Cascadia Mono"/>
              </a:rPr>
              <a:t>✓ go test ./auth    PASS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5029200"/>
            <a:ext cx="6172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D8E6F3"/>
                </a:solidFill>
                <a:latin typeface="Cascadia Mono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" y="5312664"/>
            <a:ext cx="6172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B8F36B"/>
                </a:solidFill>
                <a:latin typeface="Cascadia Mono"/>
              </a:rPr>
              <a:t>› 已完成：新增 6 个边界用例，无回归。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1627632"/>
            <a:ext cx="23774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6D9FF"/>
                </a:solidFill>
                <a:latin typeface="Microsoft YaHei"/>
              </a:rPr>
              <a:t>面向开发者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82127" y="1993392"/>
            <a:ext cx="3401568" cy="1225296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82127" y="1993392"/>
            <a:ext cx="54864" cy="1225296"/>
          </a:xfrm>
          <a:prstGeom prst="rect">
            <a:avLst/>
          </a:prstGeom>
          <a:solidFill>
            <a:srgbClr val="46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59" y="2212848"/>
            <a:ext cx="290779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6FAFF"/>
                </a:solidFill>
                <a:latin typeface="Microsoft YaHei"/>
              </a:rPr>
              <a:t>交互式 TUI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59" y="2651760"/>
            <a:ext cx="2907792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100" b="0">
                <a:solidFill>
                  <a:srgbClr val="D8E6F3"/>
                </a:solidFill>
                <a:latin typeface="Microsoft YaHei"/>
              </a:rPr>
              <a:t>适合探索、协作与复杂任务
可视化计划、Diff、审批和状态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82127" y="3474720"/>
            <a:ext cx="3401568" cy="1225296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882127" y="3474720"/>
            <a:ext cx="54864" cy="1225296"/>
          </a:xfrm>
          <a:prstGeom prst="rect">
            <a:avLst/>
          </a:prstGeom>
          <a:solidFill>
            <a:srgbClr val="6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59" y="3694176"/>
            <a:ext cx="290779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6FAFF"/>
                </a:solidFill>
                <a:latin typeface="Microsoft YaHei"/>
              </a:rPr>
              <a:t>非交互 Exec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59" y="4133087"/>
            <a:ext cx="2907792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100" b="0">
                <a:solidFill>
                  <a:srgbClr val="D8E6F3"/>
                </a:solidFill>
                <a:latin typeface="Microsoft YaHei"/>
              </a:rPr>
              <a:t>适合脚本、CI 与批处理
稳定输出，便于机器消费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82127" y="4956048"/>
            <a:ext cx="3401568" cy="1060704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882127" y="4956048"/>
            <a:ext cx="54864" cy="1060704"/>
          </a:xfrm>
          <a:prstGeom prst="rect">
            <a:avLst/>
          </a:prstGeom>
          <a:solidFill>
            <a:srgbClr val="FF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38159" y="5175504"/>
            <a:ext cx="290779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6FAFF"/>
                </a:solidFill>
                <a:latin typeface="Microsoft YaHei"/>
              </a:rPr>
              <a:t>服务化接入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59" y="5614416"/>
            <a:ext cx="2907792" cy="23774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100" b="0">
                <a:solidFill>
                  <a:srgbClr val="D8E6F3"/>
                </a:solidFill>
                <a:latin typeface="Microsoft YaHei"/>
              </a:rPr>
              <a:t>App Server / JSON-RPC / MCP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6528816"/>
            <a:ext cx="5943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EA5BA"/>
                </a:solidFill>
                <a:latin typeface="Microsoft YaHei"/>
              </a:rPr>
              <a:t>界面为能力示意图，非实际运行截图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89920" y="6528816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EA5BA"/>
                </a:solidFill>
                <a:latin typeface="Microsoft YaHei"/>
              </a:rPr>
              <a:t>2026.07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3832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8696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6128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6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" y="0"/>
            <a:ext cx="32004" cy="1920240"/>
          </a:xfrm>
          <a:prstGeom prst="rect">
            <a:avLst/>
          </a:prstGeom>
          <a:solidFill>
            <a:srgbClr val="B8F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38328"/>
            <a:ext cx="6400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6D9FF"/>
                </a:solidFill>
                <a:latin typeface="Microsoft YaHei"/>
              </a:rPr>
              <a:t>SAFETY &amp; 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0607040" cy="5852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6FAFF"/>
                </a:solidFill>
                <a:latin typeface="Microsoft YaHei"/>
              </a:rPr>
              <a:t>安全不是附加项，而是执行链路的一部分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420624"/>
            <a:ext cx="438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8EA5BA"/>
                </a:solidFill>
                <a:latin typeface="Microsoft YaHei"/>
              </a:rPr>
              <a:t>08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2700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31520" y="1554480"/>
            <a:ext cx="4343400" cy="4343400"/>
          </a:xfrm>
          <a:prstGeom prst="ellipse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43584" y="2066543"/>
            <a:ext cx="3319272" cy="3319272"/>
          </a:xfrm>
          <a:prstGeom prst="ellipse">
            <a:avLst/>
          </a:prstGeom>
          <a:solidFill>
            <a:srgbClr val="0C1A2B"/>
          </a:solidFill>
          <a:ln w="12700">
            <a:solidFill>
              <a:srgbClr val="4B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847088" y="2670048"/>
            <a:ext cx="2112264" cy="2112264"/>
          </a:xfrm>
          <a:prstGeom prst="ellipse">
            <a:avLst/>
          </a:prstGeom>
          <a:solidFill>
            <a:srgbClr val="152D46"/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423160" y="3246120"/>
            <a:ext cx="960120" cy="960120"/>
          </a:xfrm>
          <a:prstGeom prst="ellipse">
            <a:avLst/>
          </a:prstGeom>
          <a:solidFill>
            <a:srgbClr val="B8F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23160" y="3566160"/>
            <a:ext cx="9601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7111F"/>
                </a:solidFill>
                <a:latin typeface="Microsoft YaHei"/>
              </a:rPr>
              <a:t>任务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2852928"/>
            <a:ext cx="2057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6FAFF"/>
                </a:solidFill>
                <a:latin typeface="Microsoft YaHei"/>
              </a:rPr>
              <a:t>工具权限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2240280"/>
            <a:ext cx="3200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B7BFF"/>
                </a:solidFill>
                <a:latin typeface="Microsoft YaHei"/>
              </a:rPr>
              <a:t>沙箱与执行策略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1755648"/>
            <a:ext cx="4114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8EA5BA"/>
                </a:solidFill>
                <a:latin typeface="Microsoft YaHei"/>
              </a:rPr>
              <a:t>审批 · 网络约束 · 审计记录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0" y="1554480"/>
            <a:ext cx="5577840" cy="713232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79592" y="1737360"/>
            <a:ext cx="347472" cy="347472"/>
          </a:xfrm>
          <a:prstGeom prst="ellipse">
            <a:avLst/>
          </a:prstGeom>
          <a:solidFill>
            <a:srgbClr val="46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79592" y="1828800"/>
            <a:ext cx="347472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7111F"/>
                </a:solidFill>
                <a:latin typeface="Microsoft YaHe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1691639"/>
            <a:ext cx="1627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6FAFF"/>
                </a:solidFill>
                <a:latin typeface="Microsoft YaHei"/>
              </a:rPr>
              <a:t>Sandbox Profile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08" y="1691639"/>
            <a:ext cx="288950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D8E6F3"/>
                </a:solidFill>
                <a:latin typeface="Microsoft YaHei"/>
              </a:rPr>
              <a:t>限制文件、进程和系统能力边界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0" y="2496312"/>
            <a:ext cx="5577840" cy="713232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879592" y="2679192"/>
            <a:ext cx="347472" cy="347472"/>
          </a:xfrm>
          <a:prstGeom prst="ellipse">
            <a:avLst/>
          </a:prstGeom>
          <a:solidFill>
            <a:srgbClr val="6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79592" y="2770632"/>
            <a:ext cx="347472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7111F"/>
                </a:solidFill>
                <a:latin typeface="Microsoft YaHe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2633472"/>
            <a:ext cx="1627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6FAFF"/>
                </a:solidFill>
                <a:latin typeface="Microsoft YaHei"/>
              </a:rPr>
              <a:t>Approval Policy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5008" y="2633472"/>
            <a:ext cx="288950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D8E6F3"/>
                </a:solidFill>
                <a:latin typeface="Microsoft YaHei"/>
              </a:rPr>
              <a:t>高风险动作按策略请求人工确认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0" y="3438144"/>
            <a:ext cx="5577840" cy="713232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879592" y="3621024"/>
            <a:ext cx="347472" cy="347472"/>
          </a:xfrm>
          <a:prstGeom prst="ellipse">
            <a:avLst/>
          </a:prstGeom>
          <a:solidFill>
            <a:srgbClr val="FF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79592" y="3712463"/>
            <a:ext cx="347472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7111F"/>
                </a:solidFill>
                <a:latin typeface="Microsoft YaHe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3575303"/>
            <a:ext cx="1627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6FAFF"/>
                </a:solidFill>
                <a:latin typeface="Microsoft YaHei"/>
              </a:rPr>
              <a:t>Exec Policy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65008" y="3575303"/>
            <a:ext cx="288950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D8E6F3"/>
                </a:solidFill>
                <a:latin typeface="Microsoft YaHei"/>
              </a:rPr>
              <a:t>命令级规则定义允许、询问或拒绝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0" y="4379976"/>
            <a:ext cx="5577840" cy="713232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879592" y="4562856"/>
            <a:ext cx="347472" cy="347472"/>
          </a:xfrm>
          <a:prstGeom prst="ellipse">
            <a:avLst/>
          </a:prstGeom>
          <a:solidFill>
            <a:srgbClr val="4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79592" y="4654296"/>
            <a:ext cx="347472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7111F"/>
                </a:solidFill>
                <a:latin typeface="Microsoft YaHe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9088" y="4517136"/>
            <a:ext cx="1627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6FAFF"/>
                </a:solidFill>
                <a:latin typeface="Microsoft YaHei"/>
              </a:rPr>
              <a:t>Session / Rollout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65008" y="4517136"/>
            <a:ext cx="288950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D8E6F3"/>
                </a:solidFill>
                <a:latin typeface="Microsoft YaHei"/>
              </a:rPr>
              <a:t>保留过程与结果，支持追踪和恢复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0" y="5321808"/>
            <a:ext cx="5577840" cy="713232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879592" y="5504688"/>
            <a:ext cx="347472" cy="347472"/>
          </a:xfrm>
          <a:prstGeom prst="ellipse">
            <a:avLst/>
          </a:prstGeom>
          <a:solidFill>
            <a:srgbClr val="F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79592" y="5596128"/>
            <a:ext cx="347472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7111F"/>
                </a:solidFill>
                <a:latin typeface="Microsoft YaHei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9088" y="5458968"/>
            <a:ext cx="1627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6FAFF"/>
                </a:solidFill>
                <a:latin typeface="Microsoft YaHei"/>
              </a:rPr>
              <a:t>Network Control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65008" y="5458968"/>
            <a:ext cx="288950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D8E6F3"/>
                </a:solidFill>
                <a:latin typeface="Microsoft YaHei"/>
              </a:rPr>
              <a:t>对外部访问施加可配置约束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6528816"/>
            <a:ext cx="5943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EA5BA"/>
                </a:solidFill>
                <a:latin typeface="Microsoft YaHei"/>
              </a:rPr>
              <a:t>Codex Go · Project Introduction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89920" y="6528816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EA5BA"/>
                </a:solidFill>
                <a:latin typeface="Microsoft YaHei"/>
              </a:rPr>
              <a:t>2026.07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3832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8696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6128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6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" y="0"/>
            <a:ext cx="32004" cy="1920240"/>
          </a:xfrm>
          <a:prstGeom prst="rect">
            <a:avLst/>
          </a:prstGeom>
          <a:solidFill>
            <a:srgbClr val="B8F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38328"/>
            <a:ext cx="6400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6D9FF"/>
                </a:solidFill>
                <a:latin typeface="Microsoft YaHei"/>
              </a:rPr>
              <a:t>INTEGRATION ECOSYSTEM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0607040" cy="5852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6FAFF"/>
                </a:solidFill>
                <a:latin typeface="Microsoft YaHei"/>
              </a:rPr>
              <a:t>开放生态：从命令行延伸到团队基础设施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420624"/>
            <a:ext cx="438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8EA5BA"/>
                </a:solidFill>
                <a:latin typeface="Microsoft YaHei"/>
              </a:rPr>
              <a:t>09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2700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736592" y="2011680"/>
            <a:ext cx="2743200" cy="2743200"/>
          </a:xfrm>
          <a:prstGeom prst="ellipse">
            <a:avLst/>
          </a:prstGeom>
          <a:solidFill>
            <a:srgbClr val="10243A"/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04688" y="2779776"/>
            <a:ext cx="1207008" cy="1207008"/>
          </a:xfrm>
          <a:prstGeom prst="ellipse">
            <a:avLst/>
          </a:prstGeom>
          <a:solidFill>
            <a:srgbClr val="B8F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04688" y="3054096"/>
            <a:ext cx="1207008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7111F"/>
                </a:solidFill>
                <a:latin typeface="Microsoft YaHei"/>
              </a:rPr>
              <a:t>CODEX
GO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1691640"/>
            <a:ext cx="2148840" cy="914400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1856232"/>
            <a:ext cx="185623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6FAFF"/>
                </a:solidFill>
                <a:latin typeface="Microsoft YaHei"/>
              </a:rPr>
              <a:t>OpenAI / Provider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2212848"/>
            <a:ext cx="185623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EA5BA"/>
                </a:solidFill>
                <a:latin typeface="Microsoft YaHei"/>
              </a:rPr>
              <a:t>模型与认证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805940" y="2148840"/>
            <a:ext cx="4302252" cy="1234440"/>
          </a:xfrm>
          <a:prstGeom prst="line">
            <a:avLst/>
          </a:prstGeom>
          <a:ln w="1778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1520" y="4297680"/>
            <a:ext cx="2148840" cy="914400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65E6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462272"/>
            <a:ext cx="185623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6FAFF"/>
                </a:solidFill>
                <a:latin typeface="Microsoft YaHei"/>
              </a:rPr>
              <a:t>CI / Automation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4818888"/>
            <a:ext cx="185623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EA5BA"/>
                </a:solidFill>
                <a:latin typeface="Microsoft YaHei"/>
              </a:rPr>
              <a:t>非交互批处理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1805940" y="3383280"/>
            <a:ext cx="4302252" cy="1371600"/>
          </a:xfrm>
          <a:prstGeom prst="line">
            <a:avLst/>
          </a:prstGeom>
          <a:ln w="17780">
            <a:solidFill>
              <a:srgbClr val="65E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308592" y="1691640"/>
            <a:ext cx="2148840" cy="914400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FFB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54896" y="1856232"/>
            <a:ext cx="185623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6FAFF"/>
                </a:solidFill>
                <a:latin typeface="Microsoft YaHei"/>
              </a:rPr>
              <a:t>MCP Servers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54896" y="2212848"/>
            <a:ext cx="185623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EA5BA"/>
                </a:solidFill>
                <a:latin typeface="Microsoft YaHei"/>
              </a:rPr>
              <a:t>工具与企业系统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6108192" y="2148840"/>
            <a:ext cx="4274820" cy="1234440"/>
          </a:xfrm>
          <a:prstGeom prst="line">
            <a:avLst/>
          </a:prstGeom>
          <a:ln w="17780">
            <a:solidFill>
              <a:srgbClr val="FFB1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308592" y="4297680"/>
            <a:ext cx="2148840" cy="914400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4B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54896" y="4462272"/>
            <a:ext cx="185623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6FAFF"/>
                </a:solidFill>
                <a:latin typeface="Microsoft YaHei"/>
              </a:rPr>
              <a:t>IDE / App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54896" y="4818888"/>
            <a:ext cx="185623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EA5BA"/>
                </a:solidFill>
                <a:latin typeface="Microsoft YaHei"/>
              </a:rPr>
              <a:t>App Server 接入</a:t>
            </a:r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6108192" y="3383280"/>
            <a:ext cx="4274820" cy="1371600"/>
          </a:xfrm>
          <a:prstGeom prst="line">
            <a:avLst/>
          </a:prstGeom>
          <a:ln w="17780">
            <a:solidFill>
              <a:srgbClr val="4B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434840" y="5413248"/>
            <a:ext cx="3246120" cy="914400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FF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81144" y="5577840"/>
            <a:ext cx="295351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6FAFF"/>
                </a:solidFill>
                <a:latin typeface="Microsoft YaHei"/>
              </a:rPr>
              <a:t>Plugin Marketplace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81144" y="5934456"/>
            <a:ext cx="29535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EA5BA"/>
                </a:solidFill>
                <a:latin typeface="Microsoft YaHei"/>
              </a:rPr>
              <a:t>能力分发与复用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6057900" y="3383280"/>
            <a:ext cx="50292" cy="2487168"/>
          </a:xfrm>
          <a:prstGeom prst="line">
            <a:avLst/>
          </a:prstGeom>
          <a:ln w="17780">
            <a:solidFill>
              <a:srgbClr val="F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114800" y="1371600"/>
            <a:ext cx="1143000" cy="329184"/>
          </a:xfrm>
          <a:prstGeom prst="roundRect">
            <a:avLst/>
          </a:prstGeom>
          <a:solidFill>
            <a:srgbClr val="152D46"/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0" y="1403604"/>
            <a:ext cx="114300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6D9FF"/>
                </a:solidFill>
                <a:latin typeface="Microsoft YaHei"/>
              </a:rPr>
              <a:t>Windows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513832" y="1371600"/>
            <a:ext cx="960120" cy="329184"/>
          </a:xfrm>
          <a:prstGeom prst="roundRect">
            <a:avLst/>
          </a:prstGeom>
          <a:solidFill>
            <a:srgbClr val="152D46"/>
          </a:solidFill>
          <a:ln w="12700">
            <a:solidFill>
              <a:srgbClr val="65E6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13832" y="1403604"/>
            <a:ext cx="9601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65E6A5"/>
                </a:solidFill>
                <a:latin typeface="Microsoft YaHei"/>
              </a:rPr>
              <a:t>Linux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29984" y="1371600"/>
            <a:ext cx="987552" cy="329184"/>
          </a:xfrm>
          <a:prstGeom prst="roundRect">
            <a:avLst/>
          </a:prstGeom>
          <a:solidFill>
            <a:srgbClr val="152D46"/>
          </a:solidFill>
          <a:ln w="12700">
            <a:solidFill>
              <a:srgbClr val="FFB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29984" y="1403604"/>
            <a:ext cx="98755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B15A"/>
                </a:solidFill>
                <a:latin typeface="Microsoft YaHei"/>
              </a:rPr>
              <a:t>macOS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528816"/>
            <a:ext cx="5943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EA5BA"/>
                </a:solidFill>
                <a:latin typeface="Microsoft YaHei"/>
              </a:rPr>
              <a:t>Codex Go · Project Introduction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528816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EA5BA"/>
                </a:solidFill>
                <a:latin typeface="Microsoft YaHei"/>
              </a:rPr>
              <a:t>2026.07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3832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8696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6128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6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" y="0"/>
            <a:ext cx="32004" cy="1920240"/>
          </a:xfrm>
          <a:prstGeom prst="rect">
            <a:avLst/>
          </a:prstGeom>
          <a:solidFill>
            <a:srgbClr val="B8F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38328"/>
            <a:ext cx="6400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6D9FF"/>
                </a:solidFill>
                <a:latin typeface="Microsoft YaHei"/>
              </a:rPr>
              <a:t>PROJECT READINESS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0607040" cy="5852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6FAFF"/>
                </a:solidFill>
                <a:latin typeface="Microsoft YaHei"/>
              </a:rPr>
              <a:t>以协议兼容为基线，持续同步演进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420624"/>
            <a:ext cx="438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8EA5BA"/>
                </a:solidFill>
                <a:latin typeface="Microsoft YaHei"/>
              </a:rPr>
              <a:t>10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2700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1572768"/>
            <a:ext cx="20116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EA5BA"/>
                </a:solidFill>
                <a:latin typeface="Microsoft YaHei"/>
              </a:rPr>
              <a:t>当前对齐基线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901952"/>
            <a:ext cx="45720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6FAFF"/>
                </a:solidFill>
                <a:latin typeface="Microsoft YaHei"/>
              </a:rPr>
              <a:t>rust-v0.145.0-alpha.20</a:t>
            </a:r>
            <a:r>
              <a:rPr sz="1400" b="0">
                <a:solidFill>
                  <a:srgbClr val="8EA5BA"/>
                </a:solidFill>
                <a:latin typeface="Microsoft YaHei"/>
              </a:rPr>
              <a:t>  /  </a:t>
            </a:r>
            <a:r>
              <a:rPr sz="1400" b="1">
                <a:solidFill>
                  <a:srgbClr val="46D9FF"/>
                </a:solidFill>
                <a:latin typeface="Cascadia Mono"/>
              </a:rPr>
              <a:t>315195492c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1572768"/>
            <a:ext cx="1828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EA5BA"/>
                </a:solidFill>
                <a:latin typeface="Microsoft YaHei"/>
              </a:rPr>
              <a:t>Parity 清单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1975104"/>
            <a:ext cx="4096512" cy="438912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86600" y="1975104"/>
            <a:ext cx="2862072" cy="438912"/>
          </a:xfrm>
          <a:prstGeom prst="rect">
            <a:avLst/>
          </a:prstGeom>
          <a:solidFill>
            <a:srgbClr val="6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948672" y="1975104"/>
            <a:ext cx="822960" cy="438912"/>
          </a:xfrm>
          <a:prstGeom prst="rect">
            <a:avLst/>
          </a:prstGeom>
          <a:solidFill>
            <a:srgbClr val="FF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771632" y="1975104"/>
            <a:ext cx="411480" cy="438912"/>
          </a:xfrm>
          <a:prstGeom prst="rect">
            <a:avLst/>
          </a:prstGeom>
          <a:solidFill>
            <a:srgbClr val="4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4032" y="2093976"/>
            <a:ext cx="1554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7111F"/>
                </a:solidFill>
                <a:latin typeface="Microsoft YaHei"/>
              </a:rPr>
              <a:t>7 DONE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2368" y="2093976"/>
            <a:ext cx="9144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7111F"/>
                </a:solidFill>
                <a:latin typeface="Microsoft YaHei"/>
              </a:rPr>
              <a:t>2 PARTIAL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71632" y="2093976"/>
            <a:ext cx="411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07111F"/>
                </a:solidFill>
                <a:latin typeface="Microsoft YaHei"/>
              </a:rPr>
              <a:t>1 DIFF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2852928"/>
            <a:ext cx="1143000" cy="329184"/>
          </a:xfrm>
          <a:prstGeom prst="roundRect">
            <a:avLst/>
          </a:prstGeom>
          <a:solidFill>
            <a:srgbClr val="152D46"/>
          </a:solidFill>
          <a:ln w="12700">
            <a:solidFill>
              <a:srgbClr val="65E6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2884932"/>
            <a:ext cx="114300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65E6A5"/>
                </a:solidFill>
                <a:latin typeface="Microsoft YaHei"/>
              </a:rPr>
              <a:t>已覆盖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29968" y="2843784"/>
            <a:ext cx="90068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8E6F3"/>
                </a:solidFill>
                <a:latin typeface="Microsoft YaHei"/>
              </a:rPr>
              <a:t>App Server、Agent 配置、自动压缩、统一执行、Skill 选择、环境状态、TUI 会话历史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8368" y="3419856"/>
            <a:ext cx="10497312" cy="0"/>
          </a:xfrm>
          <a:prstGeom prst="line">
            <a:avLst/>
          </a:prstGeom>
          <a:ln w="10160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58368" y="3840480"/>
            <a:ext cx="1143000" cy="329184"/>
          </a:xfrm>
          <a:prstGeom prst="roundRect">
            <a:avLst/>
          </a:prstGeom>
          <a:solidFill>
            <a:srgbClr val="152D46"/>
          </a:solidFill>
          <a:ln w="12700">
            <a:solidFill>
              <a:srgbClr val="FFB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3872484"/>
            <a:ext cx="114300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B15A"/>
                </a:solidFill>
                <a:latin typeface="Microsoft YaHei"/>
              </a:rPr>
              <a:t>持续完善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29968" y="3831336"/>
            <a:ext cx="90068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8E6F3"/>
                </a:solidFill>
                <a:latin typeface="Microsoft YaHei"/>
              </a:rPr>
              <a:t>外部 Agent 记忆导入语义；macOS 原生沙箱 / root 场景验证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8368" y="4407408"/>
            <a:ext cx="10497312" cy="0"/>
          </a:xfrm>
          <a:prstGeom prst="line">
            <a:avLst/>
          </a:prstGeom>
          <a:ln w="10160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8368" y="4828032"/>
            <a:ext cx="1143000" cy="329184"/>
          </a:xfrm>
          <a:prstGeom prst="roundRect">
            <a:avLst/>
          </a:prstGeom>
          <a:solidFill>
            <a:srgbClr val="152D46"/>
          </a:solidFill>
          <a:ln w="12700">
            <a:solidFill>
              <a:srgbClr val="4B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4860036"/>
            <a:ext cx="114300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B7BFF"/>
                </a:solidFill>
                <a:latin typeface="Microsoft YaHei"/>
              </a:rPr>
              <a:t>有意差异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29968" y="4818888"/>
            <a:ext cx="90068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8E6F3"/>
                </a:solidFill>
                <a:latin typeface="Microsoft YaHei"/>
              </a:rPr>
              <a:t>保留既有 Realtime 能力，外部协议行为保持不变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58368" y="5394960"/>
            <a:ext cx="10497312" cy="0"/>
          </a:xfrm>
          <a:prstGeom prst="line">
            <a:avLst/>
          </a:prstGeom>
          <a:ln w="10160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8368" y="5943600"/>
            <a:ext cx="105156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8F36B"/>
                </a:solidFill>
                <a:latin typeface="Microsoft YaHei"/>
              </a:rPr>
              <a:t>工程策略：先锁定协议与行为，再通过测试、发布门禁和跨平台验证逐步收敛。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528816"/>
            <a:ext cx="5943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EA5BA"/>
                </a:solidFill>
                <a:latin typeface="Microsoft YaHei"/>
              </a:rPr>
              <a:t>状态来自 parity.json（generatedAt: 2026-07-18）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6528816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EA5BA"/>
                </a:solidFill>
                <a:latin typeface="Microsoft YaHei"/>
              </a:rPr>
              <a:t>2026.07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3832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8696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6128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6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" y="0"/>
            <a:ext cx="32004" cy="1920240"/>
          </a:xfrm>
          <a:prstGeom prst="rect">
            <a:avLst/>
          </a:prstGeom>
          <a:solidFill>
            <a:srgbClr val="B8F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38328"/>
            <a:ext cx="6400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6D9FF"/>
                </a:solidFill>
                <a:latin typeface="Microsoft YaHei"/>
              </a:rPr>
              <a:t>USE CASES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0607040" cy="5852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6FAFF"/>
                </a:solidFill>
                <a:latin typeface="Microsoft YaHei"/>
              </a:rPr>
              <a:t>面向个人、团队与平台的多元场景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420624"/>
            <a:ext cx="438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8EA5BA"/>
                </a:solidFill>
                <a:latin typeface="Microsoft YaHei"/>
              </a:rPr>
              <a:t>11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2700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1792" y="1627632"/>
            <a:ext cx="2487168" cy="3218688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1856231"/>
            <a:ext cx="475488" cy="475488"/>
          </a:xfrm>
          <a:prstGeom prst="ellipse">
            <a:avLst/>
          </a:prstGeom>
          <a:solidFill>
            <a:srgbClr val="46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1984248"/>
            <a:ext cx="47548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11F"/>
                </a:solidFill>
                <a:latin typeface="Microsoft YaHei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578608"/>
            <a:ext cx="20574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6FAFF"/>
                </a:solidFill>
                <a:latin typeface="Microsoft YaHei"/>
              </a:rPr>
              <a:t>日常研发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246120"/>
            <a:ext cx="2057400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D8E6F3"/>
                </a:solidFill>
                <a:latin typeface="Microsoft YaHei"/>
              </a:rPr>
              <a:t>读懂陌生代码
实现需求与修复缺陷
生成测试与文档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480560"/>
            <a:ext cx="2057400" cy="54864"/>
          </a:xfrm>
          <a:prstGeom prst="rect">
            <a:avLst/>
          </a:prstGeom>
          <a:solidFill>
            <a:srgbClr val="46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10712" y="1627632"/>
            <a:ext cx="2487168" cy="3218688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11880" y="1856231"/>
            <a:ext cx="475488" cy="475488"/>
          </a:xfrm>
          <a:prstGeom prst="ellipse">
            <a:avLst/>
          </a:prstGeom>
          <a:solidFill>
            <a:srgbClr val="6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1880" y="1984248"/>
            <a:ext cx="47548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11F"/>
                </a:solidFill>
                <a:latin typeface="Microsoft YaHe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2578608"/>
            <a:ext cx="20574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6FAFF"/>
                </a:solidFill>
                <a:latin typeface="Microsoft YaHei"/>
              </a:rPr>
              <a:t>代码质量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3246120"/>
            <a:ext cx="2057400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D8E6F3"/>
                </a:solidFill>
                <a:latin typeface="Microsoft YaHei"/>
              </a:rPr>
              <a:t>Review Git Diff
识别风险与回归
自动执行验证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11880" y="4480560"/>
            <a:ext cx="2057400" cy="54864"/>
          </a:xfrm>
          <a:prstGeom prst="rect">
            <a:avLst/>
          </a:prstGeom>
          <a:solidFill>
            <a:srgbClr val="6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99631" y="1627632"/>
            <a:ext cx="2487168" cy="3218688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00799" y="1856231"/>
            <a:ext cx="475488" cy="475488"/>
          </a:xfrm>
          <a:prstGeom prst="ellipse">
            <a:avLst/>
          </a:prstGeom>
          <a:solidFill>
            <a:srgbClr val="FF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799" y="1984248"/>
            <a:ext cx="47548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11F"/>
                </a:solidFill>
                <a:latin typeface="Microsoft YaHe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799" y="2578608"/>
            <a:ext cx="20574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6FAFF"/>
                </a:solidFill>
                <a:latin typeface="Microsoft YaHei"/>
              </a:rPr>
              <a:t>研发自动化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799" y="3246120"/>
            <a:ext cx="2057400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D8E6F3"/>
                </a:solidFill>
                <a:latin typeface="Microsoft YaHei"/>
              </a:rPr>
              <a:t>批量重构与迁移
CI 中运行 Agent
生成结构化结果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799" y="4480560"/>
            <a:ext cx="2057400" cy="54864"/>
          </a:xfrm>
          <a:prstGeom prst="rect">
            <a:avLst/>
          </a:prstGeom>
          <a:solidFill>
            <a:srgbClr val="FF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988551" y="1627632"/>
            <a:ext cx="2487168" cy="3218688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89719" y="1856231"/>
            <a:ext cx="475488" cy="475488"/>
          </a:xfrm>
          <a:prstGeom prst="ellipse">
            <a:avLst/>
          </a:prstGeom>
          <a:solidFill>
            <a:srgbClr val="4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9719" y="1984248"/>
            <a:ext cx="47548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11F"/>
                </a:solidFill>
                <a:latin typeface="Microsoft YaHei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19" y="2578608"/>
            <a:ext cx="20574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6FAFF"/>
                </a:solidFill>
                <a:latin typeface="Microsoft YaHei"/>
              </a:rPr>
              <a:t>平台集成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19" y="3246120"/>
            <a:ext cx="2057400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D8E6F3"/>
                </a:solidFill>
                <a:latin typeface="Microsoft YaHei"/>
              </a:rPr>
              <a:t>嵌入 IDE / 工作台
连接内部工具
构建专属插件生态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89719" y="4480560"/>
            <a:ext cx="2057400" cy="54864"/>
          </a:xfrm>
          <a:prstGeom prst="rect">
            <a:avLst/>
          </a:prstGeom>
          <a:solidFill>
            <a:srgbClr val="4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21792" y="5248656"/>
            <a:ext cx="10936224" cy="786384"/>
          </a:xfrm>
          <a:prstGeom prst="roundRect">
            <a:avLst/>
          </a:prstGeom>
          <a:solidFill>
            <a:srgbClr val="152D46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5468112"/>
            <a:ext cx="1005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EA5BA"/>
                </a:solidFill>
                <a:latin typeface="Microsoft YaHei"/>
              </a:rPr>
              <a:t>共同底座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75887" y="5458968"/>
            <a:ext cx="46634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46D9FF"/>
                </a:solidFill>
                <a:latin typeface="Microsoft YaHei"/>
              </a:rPr>
              <a:t>可配置</a:t>
            </a:r>
            <a:r>
              <a:rPr sz="1100" b="0">
                <a:solidFill>
                  <a:srgbClr val="8EA5BA"/>
                </a:solidFill>
                <a:latin typeface="Microsoft YaHei"/>
              </a:rPr>
              <a:t>   ×   </a:t>
            </a:r>
            <a:r>
              <a:rPr sz="1300" b="1">
                <a:solidFill>
                  <a:srgbClr val="65E6A5"/>
                </a:solidFill>
                <a:latin typeface="Microsoft YaHei"/>
              </a:rPr>
              <a:t>可扩展</a:t>
            </a:r>
            <a:r>
              <a:rPr sz="1100" b="0">
                <a:solidFill>
                  <a:srgbClr val="8EA5BA"/>
                </a:solidFill>
                <a:latin typeface="Microsoft YaHei"/>
              </a:rPr>
              <a:t>   ×   </a:t>
            </a:r>
            <a:r>
              <a:rPr sz="1300" b="1">
                <a:solidFill>
                  <a:srgbClr val="FFB15A"/>
                </a:solidFill>
                <a:latin typeface="Microsoft YaHei"/>
              </a:rPr>
              <a:t>可治理</a:t>
            </a:r>
            <a:r>
              <a:rPr sz="1100" b="0">
                <a:solidFill>
                  <a:srgbClr val="8EA5BA"/>
                </a:solidFill>
                <a:latin typeface="Microsoft YaHei"/>
              </a:rPr>
              <a:t>   ×   </a:t>
            </a:r>
            <a:r>
              <a:rPr sz="1300" b="1">
                <a:solidFill>
                  <a:srgbClr val="4B7BFF"/>
                </a:solidFill>
                <a:latin typeface="Microsoft YaHei"/>
              </a:rPr>
              <a:t>可追踪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6528816"/>
            <a:ext cx="5943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EA5BA"/>
                </a:solidFill>
                <a:latin typeface="Microsoft YaHei"/>
              </a:rPr>
              <a:t>Codex Go · Project Introduction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528816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EA5BA"/>
                </a:solidFill>
                <a:latin typeface="Microsoft YaHei"/>
              </a:rPr>
              <a:t>2026.07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3832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8696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612880" y="0"/>
            <a:ext cx="0" cy="685800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5715">
            <a:solidFill>
              <a:srgbClr val="203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6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" y="0"/>
            <a:ext cx="32004" cy="1920240"/>
          </a:xfrm>
          <a:prstGeom prst="rect">
            <a:avLst/>
          </a:prstGeom>
          <a:solidFill>
            <a:srgbClr val="B8F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640080"/>
            <a:ext cx="1389888" cy="310896"/>
          </a:xfrm>
          <a:prstGeom prst="roundRect">
            <a:avLst/>
          </a:prstGeom>
          <a:solidFill>
            <a:srgbClr val="152D46"/>
          </a:solidFill>
          <a:ln w="12700">
            <a:solidFill>
              <a:srgbClr val="B8F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53796"/>
            <a:ext cx="13898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B8F36B"/>
                </a:solidFill>
                <a:latin typeface="Microsoft YaHei"/>
              </a:rPr>
              <a:t>GET STARTED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335024"/>
            <a:ext cx="5486400" cy="1298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>
                <a:solidFill>
                  <a:srgbClr val="F6FAFF"/>
                </a:solidFill>
                <a:latin typeface="Microsoft YaHei"/>
              </a:rPr>
              <a:t>让 AI 真正进入
你的工程工作流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07792"/>
            <a:ext cx="539496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D8E6F3"/>
                </a:solidFill>
                <a:latin typeface="Microsoft YaHei"/>
              </a:rPr>
              <a:t>从一次命令开始，体验理解、执行与验证的完整闭环。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53328" y="1024128"/>
            <a:ext cx="5230368" cy="4242816"/>
          </a:xfrm>
          <a:prstGeom prst="roundRect">
            <a:avLst/>
          </a:prstGeom>
          <a:solidFill>
            <a:srgbClr val="071019"/>
          </a:solidFill>
          <a:ln w="12700">
            <a:solidFill>
              <a:srgbClr val="20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53328" y="1024128"/>
            <a:ext cx="5230368" cy="438912"/>
          </a:xfrm>
          <a:prstGeom prst="roundRect">
            <a:avLst/>
          </a:prstGeom>
          <a:solidFill>
            <a:srgbClr val="15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54496" y="1170432"/>
            <a:ext cx="109728" cy="109728"/>
          </a:xfrm>
          <a:prstGeom prst="ellipse">
            <a:avLst/>
          </a:prstGeom>
          <a:solidFill>
            <a:srgbClr val="F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92240" y="1170432"/>
            <a:ext cx="109728" cy="109728"/>
          </a:xfrm>
          <a:prstGeom prst="ellipse">
            <a:avLst/>
          </a:prstGeom>
          <a:solidFill>
            <a:srgbClr val="FFB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29983" y="1170432"/>
            <a:ext cx="109728" cy="109728"/>
          </a:xfrm>
          <a:prstGeom prst="ellipse">
            <a:avLst/>
          </a:prstGeom>
          <a:solidFill>
            <a:srgbClr val="6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76288" y="1152144"/>
            <a:ext cx="358444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EA5BA"/>
                </a:solidFill>
                <a:latin typeface="Cascadia Mono"/>
              </a:rPr>
              <a:t>codex_go — interactive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13264" y="1152144"/>
            <a:ext cx="9144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65E6A5"/>
                </a:solidFill>
                <a:latin typeface="Cascadia Mono"/>
              </a:rPr>
              <a:t>● connected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1755648"/>
            <a:ext cx="4617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EA5BA"/>
                </a:solidFill>
                <a:latin typeface="Cascadia Mono"/>
              </a:rPr>
              <a:t># 构建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2139696"/>
            <a:ext cx="4617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6D9FF"/>
                </a:solidFill>
                <a:latin typeface="Cascadia Mono"/>
              </a:rPr>
              <a:t>go build -o ./bin/codex ./cmd/codex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2523744"/>
            <a:ext cx="4617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8E6F3"/>
                </a:solidFill>
                <a:latin typeface="Cascadia Mono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2907791"/>
            <a:ext cx="4617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EA5BA"/>
                </a:solidFill>
                <a:latin typeface="Cascadia Mono"/>
              </a:rPr>
              <a:t># 交互式使用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3291839"/>
            <a:ext cx="4617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5E6A5"/>
                </a:solidFill>
                <a:latin typeface="Cascadia Mono"/>
              </a:rPr>
              <a:t>./bin/codex -- "分析当前项目并提出优化建议"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3675887"/>
            <a:ext cx="4617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8E6F3"/>
                </a:solidFill>
                <a:latin typeface="Cascadia Mono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4059935"/>
            <a:ext cx="4617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EA5BA"/>
                </a:solidFill>
                <a:latin typeface="Cascadia Mono"/>
              </a:rPr>
              <a:t># 非交互执行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4443983"/>
            <a:ext cx="4617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B15A"/>
                </a:solidFill>
                <a:latin typeface="Cascadia Mono"/>
              </a:rPr>
              <a:t>./bin/codex exec "总结本次 Git 变更"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023360"/>
            <a:ext cx="1234440" cy="329184"/>
          </a:xfrm>
          <a:prstGeom prst="roundRect">
            <a:avLst/>
          </a:prstGeom>
          <a:solidFill>
            <a:srgbClr val="152D46"/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055364"/>
            <a:ext cx="1234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6D9FF"/>
                </a:solidFill>
                <a:latin typeface="Microsoft YaHei"/>
              </a:rPr>
              <a:t>Go 1.26.2+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75688" y="4023360"/>
            <a:ext cx="1097280" cy="329184"/>
          </a:xfrm>
          <a:prstGeom prst="roundRect">
            <a:avLst/>
          </a:prstGeom>
          <a:solidFill>
            <a:srgbClr val="152D46"/>
          </a:solidFill>
          <a:ln w="12700">
            <a:solidFill>
              <a:srgbClr val="4B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75688" y="4055364"/>
            <a:ext cx="109728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B7BFF"/>
                </a:solidFill>
                <a:latin typeface="Microsoft YaHei"/>
              </a:rPr>
              <a:t>Windows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28416" y="4023360"/>
            <a:ext cx="941832" cy="329184"/>
          </a:xfrm>
          <a:prstGeom prst="roundRect">
            <a:avLst/>
          </a:prstGeom>
          <a:solidFill>
            <a:srgbClr val="152D46"/>
          </a:solidFill>
          <a:ln w="12700">
            <a:solidFill>
              <a:srgbClr val="65E6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28416" y="4055364"/>
            <a:ext cx="94183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65E6A5"/>
                </a:solidFill>
                <a:latin typeface="Microsoft YaHei"/>
              </a:rPr>
              <a:t>Linux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25696" y="4023360"/>
            <a:ext cx="950976" cy="329184"/>
          </a:xfrm>
          <a:prstGeom prst="roundRect">
            <a:avLst/>
          </a:prstGeom>
          <a:solidFill>
            <a:srgbClr val="152D46"/>
          </a:solidFill>
          <a:ln w="12700">
            <a:solidFill>
              <a:srgbClr val="FFB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25696" y="4055364"/>
            <a:ext cx="950976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B15A"/>
                </a:solidFill>
                <a:latin typeface="Microsoft YaHei"/>
              </a:rPr>
              <a:t>macOS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650992"/>
            <a:ext cx="2286000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B8F36B"/>
                </a:solidFill>
                <a:latin typeface="Microsoft YaHei"/>
              </a:rPr>
              <a:t>Codex Go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6099048"/>
            <a:ext cx="5212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EA5BA"/>
                </a:solidFill>
                <a:latin typeface="Microsoft YaHei"/>
              </a:rPr>
              <a:t>Build faster. Integrate deeper. Govern safely.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5897880"/>
            <a:ext cx="19202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46D9FF"/>
                </a:solidFill>
                <a:latin typeface="Microsoft YaHe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Codex Go 项目宣传介绍</dc:title>
  <dc:subject>跨平台 AI 编程代理项目介绍</dc:subject>
  <dc:creator>Codex Go Project</dc:creator>
  <cp:keywords>Codex Go, AI 编程代理, Go, MCP, TUI, App Server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